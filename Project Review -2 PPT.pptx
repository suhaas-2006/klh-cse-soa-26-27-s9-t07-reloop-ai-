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2" r:id="rId2"/>
    <p:sldId id="707" r:id="rId3"/>
    <p:sldId id="257" r:id="rId4"/>
    <p:sldId id="903" r:id="rId5"/>
    <p:sldId id="902" r:id="rId6"/>
    <p:sldId id="258" r:id="rId7"/>
    <p:sldId id="259" r:id="rId8"/>
    <p:sldId id="260" r:id="rId9"/>
    <p:sldId id="904" r:id="rId10"/>
    <p:sldId id="905" r:id="rId11"/>
    <p:sldId id="90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A7F621-56BA-4521-AAB5-41CEE785053C}" type="datetimeFigureOut">
              <a:rPr lang="en-IN" smtClean="0"/>
              <a:t>23-09-2026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4158C5-310D-492A-9416-6204AEA7226B}" type="slidenum">
              <a:rPr lang="en-IN" smtClean="0"/>
              <a:t>‹#›</a:t>
            </a:fld>
            <a:endParaRPr lang="en-IN"/>
          </a:p>
        </p:txBody>
      </p:sp>
    </p:spTree>
    <p:extLst>
      <p:ext uri="{BB962C8B-B14F-4D97-AF65-F5344CB8AC3E}">
        <p14:creationId xmlns:p14="http://schemas.microsoft.com/office/powerpoint/2010/main" val="1456602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5F7E9-AF6F-52A6-3A44-87D195B0C0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0BD637-E9EB-B504-729E-2C0A8B318A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731044A-6D1D-B98C-56F3-713D86BF0F79}"/>
              </a:ext>
            </a:extLst>
          </p:cNvPr>
          <p:cNvSpPr>
            <a:spLocks noGrp="1"/>
          </p:cNvSpPr>
          <p:nvPr>
            <p:ph type="dt" sz="half" idx="10"/>
          </p:nvPr>
        </p:nvSpPr>
        <p:spPr/>
        <p:txBody>
          <a:bodyPr/>
          <a:lstStyle/>
          <a:p>
            <a:fld id="{2A929E18-ACEB-4D8B-8C14-931451595B35}" type="datetimeFigureOut">
              <a:rPr lang="en-IN" smtClean="0"/>
              <a:t>23-09-2026</a:t>
            </a:fld>
            <a:endParaRPr lang="en-IN"/>
          </a:p>
        </p:txBody>
      </p:sp>
      <p:sp>
        <p:nvSpPr>
          <p:cNvPr id="5" name="Footer Placeholder 4">
            <a:extLst>
              <a:ext uri="{FF2B5EF4-FFF2-40B4-BE49-F238E27FC236}">
                <a16:creationId xmlns:a16="http://schemas.microsoft.com/office/drawing/2014/main" id="{5EBDFC18-C658-6197-1031-0FBA480E10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64AE2E-A35D-A67C-CE0A-7F8ACE248F61}"/>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123391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1291A-F2FF-816C-2D0F-DD7EFBC351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681782-D89C-B392-D1F5-171DC9AD2A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513DB2-D1D0-B01E-462E-5E132120B8E2}"/>
              </a:ext>
            </a:extLst>
          </p:cNvPr>
          <p:cNvSpPr>
            <a:spLocks noGrp="1"/>
          </p:cNvSpPr>
          <p:nvPr>
            <p:ph type="dt" sz="half" idx="10"/>
          </p:nvPr>
        </p:nvSpPr>
        <p:spPr/>
        <p:txBody>
          <a:bodyPr/>
          <a:lstStyle/>
          <a:p>
            <a:fld id="{2A929E18-ACEB-4D8B-8C14-931451595B35}" type="datetimeFigureOut">
              <a:rPr lang="en-IN" smtClean="0"/>
              <a:t>23-09-2026</a:t>
            </a:fld>
            <a:endParaRPr lang="en-IN"/>
          </a:p>
        </p:txBody>
      </p:sp>
      <p:sp>
        <p:nvSpPr>
          <p:cNvPr id="5" name="Footer Placeholder 4">
            <a:extLst>
              <a:ext uri="{FF2B5EF4-FFF2-40B4-BE49-F238E27FC236}">
                <a16:creationId xmlns:a16="http://schemas.microsoft.com/office/drawing/2014/main" id="{D7108669-DD9B-DBED-3A01-B4AC086E6A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ADD038-A7CE-35B0-9F55-E5D22D257BAE}"/>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410004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75D8A-8FC5-12A4-6507-E045142637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8000ADF-6085-7CEF-30D7-670A133B41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AFD627-3E50-8DDF-C2D3-54BF653BBADF}"/>
              </a:ext>
            </a:extLst>
          </p:cNvPr>
          <p:cNvSpPr>
            <a:spLocks noGrp="1"/>
          </p:cNvSpPr>
          <p:nvPr>
            <p:ph type="dt" sz="half" idx="10"/>
          </p:nvPr>
        </p:nvSpPr>
        <p:spPr/>
        <p:txBody>
          <a:bodyPr/>
          <a:lstStyle/>
          <a:p>
            <a:fld id="{2A929E18-ACEB-4D8B-8C14-931451595B35}" type="datetimeFigureOut">
              <a:rPr lang="en-IN" smtClean="0"/>
              <a:t>23-09-2026</a:t>
            </a:fld>
            <a:endParaRPr lang="en-IN"/>
          </a:p>
        </p:txBody>
      </p:sp>
      <p:sp>
        <p:nvSpPr>
          <p:cNvPr id="5" name="Footer Placeholder 4">
            <a:extLst>
              <a:ext uri="{FF2B5EF4-FFF2-40B4-BE49-F238E27FC236}">
                <a16:creationId xmlns:a16="http://schemas.microsoft.com/office/drawing/2014/main" id="{098B5194-826D-AC38-C17B-34E193B9AD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DC8050-2F84-1E49-29D5-0CFFF3948E0F}"/>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2412713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BD5FB-9FF3-7454-ACCF-E6616AF102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857575-3C90-126C-C92B-07F347CCB1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0C1868A-6081-DC50-A5C3-9FA7AC9A94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2F1D206-9555-46BD-222D-423D788442E1}"/>
              </a:ext>
            </a:extLst>
          </p:cNvPr>
          <p:cNvSpPr>
            <a:spLocks noGrp="1"/>
          </p:cNvSpPr>
          <p:nvPr>
            <p:ph type="dt" sz="half" idx="10"/>
          </p:nvPr>
        </p:nvSpPr>
        <p:spPr/>
        <p:txBody>
          <a:bodyPr/>
          <a:lstStyle/>
          <a:p>
            <a:fld id="{2A929E18-ACEB-4D8B-8C14-931451595B35}" type="datetimeFigureOut">
              <a:rPr lang="en-IN" smtClean="0"/>
              <a:t>23-09-2026</a:t>
            </a:fld>
            <a:endParaRPr lang="en-IN"/>
          </a:p>
        </p:txBody>
      </p:sp>
      <p:sp>
        <p:nvSpPr>
          <p:cNvPr id="6" name="Footer Placeholder 5">
            <a:extLst>
              <a:ext uri="{FF2B5EF4-FFF2-40B4-BE49-F238E27FC236}">
                <a16:creationId xmlns:a16="http://schemas.microsoft.com/office/drawing/2014/main" id="{325D49C2-FD7A-C7E4-A71D-A1CBF737B1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BD08F9-8CD9-6B0B-E7C6-DEEA5F620F60}"/>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960903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FB460-5B94-7168-438C-BF4E0EE1DD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0B26E-813B-010D-8DA7-7CF1F722B8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E4E9CF-6B22-8E80-2E55-1603ABFC91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BC892D7-A21D-EAF7-85FF-BC812721AE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0CF3CE-7FCD-E0B8-0C99-79F4EB5270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E4D8A8-6F15-203C-7694-1CFE39B108F1}"/>
              </a:ext>
            </a:extLst>
          </p:cNvPr>
          <p:cNvSpPr>
            <a:spLocks noGrp="1"/>
          </p:cNvSpPr>
          <p:nvPr>
            <p:ph type="dt" sz="half" idx="10"/>
          </p:nvPr>
        </p:nvSpPr>
        <p:spPr/>
        <p:txBody>
          <a:bodyPr/>
          <a:lstStyle/>
          <a:p>
            <a:fld id="{2A929E18-ACEB-4D8B-8C14-931451595B35}" type="datetimeFigureOut">
              <a:rPr lang="en-IN" smtClean="0"/>
              <a:t>23-09-2026</a:t>
            </a:fld>
            <a:endParaRPr lang="en-IN"/>
          </a:p>
        </p:txBody>
      </p:sp>
      <p:sp>
        <p:nvSpPr>
          <p:cNvPr id="8" name="Footer Placeholder 7">
            <a:extLst>
              <a:ext uri="{FF2B5EF4-FFF2-40B4-BE49-F238E27FC236}">
                <a16:creationId xmlns:a16="http://schemas.microsoft.com/office/drawing/2014/main" id="{9281B274-39F4-AD0B-7B9B-677D947EE6F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38DE76C-D341-507A-45EE-196EA5B1CBFF}"/>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342909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6FB7E-FB0E-D00C-E535-15770B3F6A4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244AEC-2671-ADAD-0DF0-362377A033EE}"/>
              </a:ext>
            </a:extLst>
          </p:cNvPr>
          <p:cNvSpPr>
            <a:spLocks noGrp="1"/>
          </p:cNvSpPr>
          <p:nvPr>
            <p:ph type="dt" sz="half" idx="10"/>
          </p:nvPr>
        </p:nvSpPr>
        <p:spPr/>
        <p:txBody>
          <a:bodyPr/>
          <a:lstStyle/>
          <a:p>
            <a:fld id="{2A929E18-ACEB-4D8B-8C14-931451595B35}" type="datetimeFigureOut">
              <a:rPr lang="en-IN" smtClean="0"/>
              <a:t>23-09-2026</a:t>
            </a:fld>
            <a:endParaRPr lang="en-IN"/>
          </a:p>
        </p:txBody>
      </p:sp>
      <p:sp>
        <p:nvSpPr>
          <p:cNvPr id="4" name="Footer Placeholder 3">
            <a:extLst>
              <a:ext uri="{FF2B5EF4-FFF2-40B4-BE49-F238E27FC236}">
                <a16:creationId xmlns:a16="http://schemas.microsoft.com/office/drawing/2014/main" id="{70129119-AF3E-7A0C-8BDE-F03AB4B101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A6570D-DCAB-FBF0-7BAC-C979B426F934}"/>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3339453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978E59-88A5-C98E-6F8A-A65233EF26EA}"/>
              </a:ext>
            </a:extLst>
          </p:cNvPr>
          <p:cNvSpPr>
            <a:spLocks noGrp="1"/>
          </p:cNvSpPr>
          <p:nvPr>
            <p:ph type="dt" sz="half" idx="10"/>
          </p:nvPr>
        </p:nvSpPr>
        <p:spPr/>
        <p:txBody>
          <a:bodyPr/>
          <a:lstStyle/>
          <a:p>
            <a:fld id="{2A929E18-ACEB-4D8B-8C14-931451595B35}" type="datetimeFigureOut">
              <a:rPr lang="en-IN" smtClean="0"/>
              <a:t>23-09-2026</a:t>
            </a:fld>
            <a:endParaRPr lang="en-IN"/>
          </a:p>
        </p:txBody>
      </p:sp>
      <p:sp>
        <p:nvSpPr>
          <p:cNvPr id="3" name="Footer Placeholder 2">
            <a:extLst>
              <a:ext uri="{FF2B5EF4-FFF2-40B4-BE49-F238E27FC236}">
                <a16:creationId xmlns:a16="http://schemas.microsoft.com/office/drawing/2014/main" id="{C7B3465C-827B-A2FF-CC86-D367A2E993A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E9D20A-2AC7-956C-8D1B-1EBF0F4A1BC2}"/>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4175201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C7CC7-31A2-4874-52D5-5FA2E9D23D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02BA7A0-1707-F9B9-7A12-322EEF7E7B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DE439DA-F71E-1D9B-BDF1-9B548E598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59E9AE-10E4-B7F1-5F66-CAD8E658651D}"/>
              </a:ext>
            </a:extLst>
          </p:cNvPr>
          <p:cNvSpPr>
            <a:spLocks noGrp="1"/>
          </p:cNvSpPr>
          <p:nvPr>
            <p:ph type="dt" sz="half" idx="10"/>
          </p:nvPr>
        </p:nvSpPr>
        <p:spPr/>
        <p:txBody>
          <a:bodyPr/>
          <a:lstStyle/>
          <a:p>
            <a:fld id="{2A929E18-ACEB-4D8B-8C14-931451595B35}" type="datetimeFigureOut">
              <a:rPr lang="en-IN" smtClean="0"/>
              <a:t>23-09-2026</a:t>
            </a:fld>
            <a:endParaRPr lang="en-IN"/>
          </a:p>
        </p:txBody>
      </p:sp>
      <p:sp>
        <p:nvSpPr>
          <p:cNvPr id="6" name="Footer Placeholder 5">
            <a:extLst>
              <a:ext uri="{FF2B5EF4-FFF2-40B4-BE49-F238E27FC236}">
                <a16:creationId xmlns:a16="http://schemas.microsoft.com/office/drawing/2014/main" id="{422040F3-F2AB-8E4B-C935-10AE86CCDE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368C4B-5FFE-5FCB-D0BB-DD1C5A93B663}"/>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196039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C83B4-B5E5-D6FF-BB79-8C8234BD90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4CCD1D-D81E-77F9-52EB-BE29A93DF8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AFE9243-B7E9-A471-ADEB-52A84A4C16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0EB2B7-6297-E48F-67D8-F1624B074B6C}"/>
              </a:ext>
            </a:extLst>
          </p:cNvPr>
          <p:cNvSpPr>
            <a:spLocks noGrp="1"/>
          </p:cNvSpPr>
          <p:nvPr>
            <p:ph type="dt" sz="half" idx="10"/>
          </p:nvPr>
        </p:nvSpPr>
        <p:spPr/>
        <p:txBody>
          <a:bodyPr/>
          <a:lstStyle/>
          <a:p>
            <a:fld id="{2A929E18-ACEB-4D8B-8C14-931451595B35}" type="datetimeFigureOut">
              <a:rPr lang="en-IN" smtClean="0"/>
              <a:t>23-09-2026</a:t>
            </a:fld>
            <a:endParaRPr lang="en-IN"/>
          </a:p>
        </p:txBody>
      </p:sp>
      <p:sp>
        <p:nvSpPr>
          <p:cNvPr id="6" name="Footer Placeholder 5">
            <a:extLst>
              <a:ext uri="{FF2B5EF4-FFF2-40B4-BE49-F238E27FC236}">
                <a16:creationId xmlns:a16="http://schemas.microsoft.com/office/drawing/2014/main" id="{43168D6E-0BE5-0B94-B52E-46F5EBF9B6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DD0171-FFAB-6940-DE1C-867F74FB14C9}"/>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1169136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9BBB3-8CF3-3703-0BE7-017A62FE094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DD5804-F1C6-8777-E876-D82511F0A1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3085BD-C095-F5AD-6011-EFE856D1A765}"/>
              </a:ext>
            </a:extLst>
          </p:cNvPr>
          <p:cNvSpPr>
            <a:spLocks noGrp="1"/>
          </p:cNvSpPr>
          <p:nvPr>
            <p:ph type="dt" sz="half" idx="10"/>
          </p:nvPr>
        </p:nvSpPr>
        <p:spPr/>
        <p:txBody>
          <a:bodyPr/>
          <a:lstStyle/>
          <a:p>
            <a:fld id="{2A929E18-ACEB-4D8B-8C14-931451595B35}" type="datetimeFigureOut">
              <a:rPr lang="en-IN" smtClean="0"/>
              <a:t>23-09-2026</a:t>
            </a:fld>
            <a:endParaRPr lang="en-IN"/>
          </a:p>
        </p:txBody>
      </p:sp>
      <p:sp>
        <p:nvSpPr>
          <p:cNvPr id="5" name="Footer Placeholder 4">
            <a:extLst>
              <a:ext uri="{FF2B5EF4-FFF2-40B4-BE49-F238E27FC236}">
                <a16:creationId xmlns:a16="http://schemas.microsoft.com/office/drawing/2014/main" id="{45EA87D3-161F-3109-8D1E-FFDD60D544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037611-3F0A-6A8D-4A40-DE7FAF247AFC}"/>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3696373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2B9FA7-BE8F-5665-5C7C-E099B630E1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1F6FCF-4FCD-AFF3-166B-33D45B9DB4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7AA191-0CCC-B5C8-D2D0-ADE1095E691C}"/>
              </a:ext>
            </a:extLst>
          </p:cNvPr>
          <p:cNvSpPr>
            <a:spLocks noGrp="1"/>
          </p:cNvSpPr>
          <p:nvPr>
            <p:ph type="dt" sz="half" idx="10"/>
          </p:nvPr>
        </p:nvSpPr>
        <p:spPr/>
        <p:txBody>
          <a:bodyPr/>
          <a:lstStyle/>
          <a:p>
            <a:fld id="{2A929E18-ACEB-4D8B-8C14-931451595B35}" type="datetimeFigureOut">
              <a:rPr lang="en-IN" smtClean="0"/>
              <a:t>23-09-2026</a:t>
            </a:fld>
            <a:endParaRPr lang="en-IN"/>
          </a:p>
        </p:txBody>
      </p:sp>
      <p:sp>
        <p:nvSpPr>
          <p:cNvPr id="5" name="Footer Placeholder 4">
            <a:extLst>
              <a:ext uri="{FF2B5EF4-FFF2-40B4-BE49-F238E27FC236}">
                <a16:creationId xmlns:a16="http://schemas.microsoft.com/office/drawing/2014/main" id="{AEAF4A07-363C-F610-00BC-3FD9AF5EE8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EACB18-F9D1-21B5-AC07-C1868FE8B8EA}"/>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351837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D04ED5-9A1C-B4BC-17E5-413E781C7C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3C2EFB-496A-5322-9AE2-AF885B1284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44D5E0-4F2C-1FEE-8456-F85DD9042F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929E18-ACEB-4D8B-8C14-931451595B35}" type="datetimeFigureOut">
              <a:rPr lang="en-IN" smtClean="0"/>
              <a:t>23-09-2026</a:t>
            </a:fld>
            <a:endParaRPr lang="en-IN"/>
          </a:p>
        </p:txBody>
      </p:sp>
      <p:sp>
        <p:nvSpPr>
          <p:cNvPr id="5" name="Footer Placeholder 4">
            <a:extLst>
              <a:ext uri="{FF2B5EF4-FFF2-40B4-BE49-F238E27FC236}">
                <a16:creationId xmlns:a16="http://schemas.microsoft.com/office/drawing/2014/main" id="{CD0D43E6-C658-174E-46AE-D4867AC9D2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86C12B4-F1E6-5DFA-3592-E595A5CBAA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865184-479D-47FA-9EBD-2BF5C3F17907}" type="slidenum">
              <a:rPr lang="en-IN" smtClean="0"/>
              <a:t>‹#›</a:t>
            </a:fld>
            <a:endParaRPr lang="en-IN"/>
          </a:p>
        </p:txBody>
      </p:sp>
    </p:spTree>
    <p:extLst>
      <p:ext uri="{BB962C8B-B14F-4D97-AF65-F5344CB8AC3E}">
        <p14:creationId xmlns:p14="http://schemas.microsoft.com/office/powerpoint/2010/main" val="128971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440963926"/>
              </p:ext>
            </p:extLst>
          </p:nvPr>
        </p:nvGraphicFramePr>
        <p:xfrm>
          <a:off x="8193271" y="4898509"/>
          <a:ext cx="3702050" cy="118872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800" b="1" kern="1200" dirty="0">
                          <a:solidFill>
                            <a:schemeClr val="dk1"/>
                          </a:solidFill>
                          <a:latin typeface="Times New Roman" panose="02020603050405020304" pitchFamily="18" charset="0"/>
                          <a:ea typeface="Cambria"/>
                          <a:cs typeface="Times New Roman" panose="02020603050405020304" pitchFamily="18" charset="0"/>
                        </a:rPr>
                        <a:t>N Sai Suhaas - 2420030734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latin typeface="Times New Roman" panose="02020603050405020304" pitchFamily="18" charset="0"/>
                          <a:ea typeface="Cambria"/>
                          <a:cs typeface="Times New Roman" panose="02020603050405020304" pitchFamily="18" charset="0"/>
                        </a:rPr>
                        <a:t>A Sudarsan Krishna – 2420030641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latin typeface="Times New Roman" panose="02020603050405020304" pitchFamily="18" charset="0"/>
                          <a:ea typeface="Cambria"/>
                          <a:cs typeface="Times New Roman" panose="02020603050405020304" pitchFamily="18" charset="0"/>
                        </a:rPr>
                        <a:t>K Sai Dhanush - 2420030769</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906608097"/>
              </p:ext>
            </p:extLst>
          </p:nvPr>
        </p:nvGraphicFramePr>
        <p:xfrm>
          <a:off x="-776149" y="4496429"/>
          <a:ext cx="7717723" cy="1838960"/>
        </p:xfrm>
        <a:graphic>
          <a:graphicData uri="http://schemas.openxmlformats.org/drawingml/2006/table">
            <a:tbl>
              <a:tblPr firstRow="1" bandRow="1">
                <a:tableStyleId>{5940675A-B579-460E-94D1-54222C63F5DA}</a:tableStyleId>
              </a:tblPr>
              <a:tblGrid>
                <a:gridCol w="1796037">
                  <a:extLst>
                    <a:ext uri="{9D8B030D-6E8A-4147-A177-3AD203B41FA5}">
                      <a16:colId xmlns:a16="http://schemas.microsoft.com/office/drawing/2014/main" val="40058472"/>
                    </a:ext>
                  </a:extLst>
                </a:gridCol>
                <a:gridCol w="5921686">
                  <a:extLst>
                    <a:ext uri="{9D8B030D-6E8A-4147-A177-3AD203B41FA5}">
                      <a16:colId xmlns:a16="http://schemas.microsoft.com/office/drawing/2014/main" val="1330242319"/>
                    </a:ext>
                  </a:extLst>
                </a:gridCol>
              </a:tblGrid>
              <a:tr h="1332118">
                <a:tc>
                  <a:txBody>
                    <a:bodyPr/>
                    <a:lstStyle/>
                    <a:p>
                      <a:endParaRPr lang="en-IN" sz="1800" b="1"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800" b="1" dirty="0">
                        <a:solidFill>
                          <a:srgbClr val="C00000"/>
                        </a:solidFill>
                        <a:latin typeface="Times New Roman" panose="02020603050405020304" pitchFamily="18" charset="0"/>
                        <a:cs typeface="Times New Roman" panose="02020603050405020304" pitchFamily="18" charset="0"/>
                      </a:endParaRPr>
                    </a:p>
                    <a:p>
                      <a:r>
                        <a:rPr lang="en-IN" sz="18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800" b="1" dirty="0">
                          <a:solidFill>
                            <a:schemeClr val="dk1"/>
                          </a:solidFill>
                          <a:latin typeface="Times New Roman" panose="02020603050405020304" pitchFamily="18" charset="0"/>
                          <a:ea typeface="Cambria"/>
                          <a:cs typeface="Times New Roman" panose="02020603050405020304" pitchFamily="18" charset="0"/>
                          <a:sym typeface="Cambria"/>
                        </a:rPr>
                        <a:t>K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Venkateswari</a:t>
                      </a:r>
                      <a:r>
                        <a:rPr lang="en-US" sz="1800" b="1" dirty="0">
                          <a:solidFill>
                            <a:schemeClr val="dk1"/>
                          </a:solidFill>
                          <a:latin typeface="Times New Roman" panose="02020603050405020304" pitchFamily="18" charset="0"/>
                          <a:ea typeface="Cambria"/>
                          <a:cs typeface="Times New Roman" panose="02020603050405020304" pitchFamily="18" charset="0"/>
                          <a:sym typeface="Cambria"/>
                        </a:rPr>
                        <a:t> </a:t>
                      </a:r>
                    </a:p>
                    <a:p>
                      <a:pPr marL="0" indent="0" algn="l">
                        <a:lnSpc>
                          <a:spcPct val="100000"/>
                        </a:lnSpc>
                        <a:spcBef>
                          <a:spcPts val="200"/>
                        </a:spcBef>
                        <a:buSzPts val="810"/>
                        <a:buNone/>
                      </a:pPr>
                      <a:r>
                        <a:rPr lang="en-US" sz="1800" b="1"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8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8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800" b="1"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800" b="1"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924300" y="4379931"/>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983870"/>
            <a:ext cx="10715625" cy="523220"/>
          </a:xfrm>
          <a:prstGeom prst="rect">
            <a:avLst/>
          </a:prstGeom>
          <a:noFill/>
        </p:spPr>
        <p:txBody>
          <a:bodyPr wrap="square">
            <a:spAutoFit/>
          </a:bodyPr>
          <a:lstStyle/>
          <a:p>
            <a:pPr algn="ctr">
              <a:lnSpc>
                <a:spcPct val="100000"/>
              </a:lnSpc>
              <a:spcAft>
                <a:spcPts val="800"/>
              </a:spcAft>
              <a:buNone/>
            </a:pPr>
            <a:r>
              <a:rPr lang="en-IN" sz="2800" b="1" dirty="0" err="1">
                <a:solidFill>
                  <a:schemeClr val="bg1"/>
                </a:solidFill>
                <a:latin typeface="Times New Roman" panose="02020603050405020304" pitchFamily="18" charset="0"/>
                <a:cs typeface="Times New Roman" panose="02020603050405020304" pitchFamily="18" charset="0"/>
              </a:rPr>
              <a:t>ReLoop</a:t>
            </a:r>
            <a:r>
              <a:rPr lang="en-IN" sz="2800" b="1" dirty="0">
                <a:solidFill>
                  <a:schemeClr val="bg1"/>
                </a:solidFill>
                <a:latin typeface="Times New Roman" panose="02020603050405020304" pitchFamily="18" charset="0"/>
                <a:cs typeface="Times New Roman" panose="02020603050405020304" pitchFamily="18" charset="0"/>
              </a:rPr>
              <a:t> AI – Agentic E-Waste Recovery &amp; Circularity Orchestrator</a:t>
            </a:r>
            <a:endParaRPr lang="en-IN" sz="28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445A3880-A2D7-A8BA-7CAE-32C89477E401}"/>
              </a:ext>
            </a:extLst>
          </p:cNvPr>
          <p:cNvSpPr txBox="1"/>
          <p:nvPr/>
        </p:nvSpPr>
        <p:spPr>
          <a:xfrm>
            <a:off x="727586" y="1384202"/>
            <a:ext cx="10736827" cy="5262979"/>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Traditional e-waste disposal systems largely depend on users or collection centres manually deciding whether electronic devices should be repaired, reused, refurbished, or recycled. As the volume and variety of discarded electronics increases, this leads to:</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Premature disposal of repairable or reusable electronic devices.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Lack of intelligent assessment of a device's condition and remaining useful life.</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Difficulty in identifying the most sustainable recovery option for each device.</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Limited coordination between users, repair/refurbishment centres, reuse partners, and recyclers.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Loss of valuable components and materials that could be recovered and reused.</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Lack of proactive tracking and orchestration throughout the device's recovery journey.</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Limited intelligence in existing systems to make context-aware decisions between repair, reuse, refurbishment, parts recovery, and recycling.</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891957"/>
            <a:ext cx="6096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BA21ACDD-F092-4CE2-44C3-B1CDD80C3F90}"/>
              </a:ext>
            </a:extLst>
          </p:cNvPr>
          <p:cNvSpPr txBox="1"/>
          <p:nvPr/>
        </p:nvSpPr>
        <p:spPr>
          <a:xfrm>
            <a:off x="766916" y="1811059"/>
            <a:ext cx="11189109" cy="4154984"/>
          </a:xfrm>
          <a:prstGeom prst="rect">
            <a:avLst/>
          </a:prstGeom>
          <a:noFill/>
        </p:spPr>
        <p:txBody>
          <a:bodyPr wrap="square">
            <a:spAutoFit/>
          </a:bodyPr>
          <a:lstStyle/>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Develop an Agentic AI-powered e-waste recovery system for intelligent and sustainable electronic-device management.</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Automatically assess the condition, repairability, reusability, and recovery potential of discarded electronic devices.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Intelligently determine the most suitable pathway such as repair, reuse, refurbishment, parts recovery, or recycling.</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Automatically match devices with appropriate repair, refurbishment, reuse, and authorized recycling partners and coordinate the recovery process.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Implement a scalable SOA and microservices-based architecture to improve e-waste recovery efficiency, reduce unnecessary disposal, and maximize material and device reuse.</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1300855620"/>
              </p:ext>
            </p:extLst>
          </p:nvPr>
        </p:nvGraphicFramePr>
        <p:xfrm>
          <a:off x="274646" y="886112"/>
          <a:ext cx="11642705" cy="492943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l">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l">
                        <a:buNone/>
                      </a:pPr>
                      <a:r>
                        <a:rPr lang="en-US" dirty="0">
                          <a:latin typeface="Times New Roman" pitchFamily="18" charset="0"/>
                          <a:cs typeface="Times New Roman" pitchFamily="18" charset="0"/>
                        </a:rPr>
                        <a:t>Methodology</a:t>
                      </a:r>
                    </a:p>
                  </a:txBody>
                  <a:tcPr>
                    <a:solidFill>
                      <a:srgbClr val="FFFF00"/>
                    </a:solidFill>
                  </a:tcPr>
                </a:tc>
                <a:tc>
                  <a:txBody>
                    <a:bodyPr/>
                    <a:lstStyle/>
                    <a:p>
                      <a:pPr algn="l">
                        <a:buNone/>
                      </a:pPr>
                      <a:r>
                        <a:rPr lang="en-US" dirty="0">
                          <a:latin typeface="Times New Roman" pitchFamily="18" charset="0"/>
                          <a:cs typeface="Times New Roman" pitchFamily="18" charset="0"/>
                        </a:rPr>
                        <a:t>Inferences</a:t>
                      </a:r>
                    </a:p>
                  </a:txBody>
                  <a:tcPr>
                    <a:solidFill>
                      <a:srgbClr val="FFFF00"/>
                    </a:solidFill>
                  </a:tcPr>
                </a:tc>
                <a:tc>
                  <a:txBody>
                    <a:bodyPr/>
                    <a:lstStyle/>
                    <a:p>
                      <a:pPr algn="l">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t>Jano et al. (2026)</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algn="l"/>
                      <a:r>
                        <a:rPr lang="en-IN" sz="1400" dirty="0"/>
                        <a:t>Closing the Loop: A Systematic Review of Artificial Intelligence in Circular E-Waste Management</a:t>
                      </a:r>
                      <a:endParaRPr lang="en-IN" sz="1400" b="0"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 Reviewed 147 studies on AI in circular e-waste management. </a:t>
                      </a:r>
                      <a:br>
                        <a:rPr lang="en-IN" sz="1400" dirty="0"/>
                      </a:br>
                      <a:r>
                        <a:rPr lang="en-IN" sz="1400" dirty="0"/>
                        <a:t>• Analysed AI applications across collection, classification, sorting, recovery and second-life use. </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 AI can support multiple stages of the e-waste lifecycle. </a:t>
                      </a:r>
                      <a:br>
                        <a:rPr lang="en-IN" sz="1400" dirty="0"/>
                      </a:br>
                      <a:r>
                        <a:rPr lang="en-IN" sz="1400" dirty="0"/>
                        <a:t>• Deep learning and computer vision are widely used, particularly for detection and classification. </a:t>
                      </a:r>
                      <a:br>
                        <a:rPr lang="en-IN" sz="1400" dirty="0"/>
                      </a:br>
                      <a:r>
                        <a:rPr lang="en-IN" sz="1400" dirty="0"/>
                        <a:t>• AI has potential to support circular and closed-loop e-waste systems.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 Existing AI applications are largely fragmented across individual lifecycle stages. </a:t>
                      </a:r>
                      <a:br>
                        <a:rPr lang="en-IN" sz="1400" dirty="0"/>
                      </a:br>
                      <a:r>
                        <a:rPr lang="en-IN" sz="1400" dirty="0"/>
                        <a:t>• Data availability, interoperability and standardization remain challenges. </a:t>
                      </a:r>
                      <a:br>
                        <a:rPr lang="en-IN" sz="1400" dirty="0"/>
                      </a:b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algn="l">
                        <a:buNone/>
                      </a:pPr>
                      <a:r>
                        <a:rPr lang="en-IN" sz="1400" dirty="0"/>
                        <a:t>Rajeev et al. (2025)</a:t>
                      </a:r>
                      <a:endParaRPr lang="en-IN" sz="1400" b="0" dirty="0"/>
                    </a:p>
                  </a:txBody>
                  <a:tcPr anchor="ctr"/>
                </a:tc>
                <a:tc>
                  <a:txBody>
                    <a:bodyPr/>
                    <a:lstStyle/>
                    <a:p>
                      <a:pPr algn="l">
                        <a:buNone/>
                      </a:pPr>
                      <a:r>
                        <a:rPr lang="en-IN" sz="1400" dirty="0"/>
                        <a:t>Advancing E-Waste Classification with Customizable YOLO Based Deep Learning Models</a:t>
                      </a:r>
                      <a:endParaRPr lang="en-IN" sz="1400" b="0" dirty="0"/>
                    </a:p>
                  </a:txBody>
                  <a:tcPr anchor="ctr"/>
                </a:tc>
                <a:tc>
                  <a:txBody>
                    <a:bodyPr/>
                    <a:lstStyle/>
                    <a:p>
                      <a:pPr marL="0" indent="0" algn="l">
                        <a:buFont typeface="Arial" panose="020B0604020202020204" pitchFamily="34" charset="0"/>
                        <a:buNone/>
                      </a:pPr>
                      <a:r>
                        <a:rPr lang="en-IN" sz="1400" dirty="0"/>
                        <a:t>• Applied YOLO-based deep learning models for e-waste classification. </a:t>
                      </a:r>
                      <a:br>
                        <a:rPr lang="en-IN" sz="1400" dirty="0"/>
                      </a:br>
                      <a:r>
                        <a:rPr lang="en-IN" sz="1400" dirty="0"/>
                        <a:t>• Used computer vision to identify different categories of electronic waste. </a:t>
                      </a:r>
                      <a:br>
                        <a:rPr lang="en-IN" sz="1400" dirty="0"/>
                      </a:br>
                      <a:endParaRPr lang="en-IN" sz="1400" b="0" dirty="0"/>
                    </a:p>
                  </a:txBody>
                  <a:tcPr anchor="ctr"/>
                </a:tc>
                <a:tc>
                  <a:txBody>
                    <a:bodyPr/>
                    <a:lstStyle/>
                    <a:p>
                      <a:pPr algn="l">
                        <a:buNone/>
                      </a:pPr>
                      <a:r>
                        <a:rPr lang="en-IN" sz="1400" dirty="0"/>
                        <a:t>• Deep learning can improve automated identification and classification of e-waste. </a:t>
                      </a:r>
                      <a:br>
                        <a:rPr lang="en-IN" sz="1400" dirty="0"/>
                      </a:br>
                      <a:r>
                        <a:rPr lang="en-IN" sz="1400" dirty="0"/>
                        <a:t>• Computer vision can reduce dependence on manual sorting.</a:t>
                      </a:r>
                      <a:endParaRPr lang="en-IN" sz="1400" b="0" dirty="0"/>
                    </a:p>
                  </a:txBody>
                  <a:tcPr anchor="ctr"/>
                </a:tc>
                <a:tc>
                  <a:txBody>
                    <a:bodyPr/>
                    <a:lstStyle/>
                    <a:p>
                      <a:pPr algn="l">
                        <a:buNone/>
                      </a:pPr>
                      <a:r>
                        <a:rPr lang="en-IN" sz="1400" dirty="0"/>
                        <a:t>• </a:t>
                      </a:r>
                      <a:r>
                        <a:rPr lang="en-IN" sz="1400" b="0" dirty="0"/>
                        <a:t>Primarily focuses on classification and identification. </a:t>
                      </a:r>
                      <a:br>
                        <a:rPr lang="en-IN" sz="1400" b="0" dirty="0"/>
                      </a:br>
                      <a:r>
                        <a:rPr lang="en-IN" sz="1400" b="0" dirty="0"/>
                        <a:t>• Does not </a:t>
                      </a:r>
                      <a:r>
                        <a:rPr lang="en-IN" sz="1400" dirty="0"/>
                        <a:t>determine whether an individual device should be repaired, reused, refurbished or recycled. </a:t>
                      </a:r>
                      <a:br>
                        <a:rPr lang="en-IN" sz="1400" dirty="0"/>
                      </a:br>
                      <a:r>
                        <a:rPr lang="en-IN" sz="1400" dirty="0"/>
                        <a:t>• Does not provide end-to-end recovery orchestration.</a:t>
                      </a:r>
                      <a:endParaRPr lang="en-IN" sz="1400" b="0" dirty="0"/>
                    </a:p>
                  </a:txBody>
                  <a:tcPr anchor="ct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t>Oise &amp; </a:t>
                      </a:r>
                      <a:r>
                        <a:rPr lang="en-IN" sz="1400" dirty="0" err="1"/>
                        <a:t>Konyeha</a:t>
                      </a:r>
                      <a:r>
                        <a:rPr lang="en-IN" sz="1400" dirty="0"/>
                        <a:t> (2025)</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l"/>
                      <a:r>
                        <a:rPr lang="en-IN" sz="1400" dirty="0"/>
                        <a:t>Environmental Impacts in E-Waste Management Using Deep Learning</a:t>
                      </a:r>
                      <a:endParaRPr lang="en-IN" sz="1400" b="0"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 Used deep learning models including </a:t>
                      </a:r>
                      <a:r>
                        <a:rPr lang="en-IN" sz="1400" dirty="0" err="1"/>
                        <a:t>EfficientNet</a:t>
                      </a:r>
                      <a:r>
                        <a:rPr lang="en-IN" sz="1400" dirty="0"/>
                        <a:t> and </a:t>
                      </a:r>
                      <a:r>
                        <a:rPr lang="en-IN" sz="1400" dirty="0" err="1"/>
                        <a:t>MobileNet</a:t>
                      </a:r>
                      <a:r>
                        <a:rPr lang="en-IN" sz="1400" dirty="0"/>
                        <a:t>. </a:t>
                      </a:r>
                      <a:br>
                        <a:rPr lang="en-IN" sz="1400" dirty="0"/>
                      </a:br>
                      <a:r>
                        <a:rPr lang="en-IN" sz="1400" dirty="0"/>
                        <a:t>• Classified different e-waste categories to support sorting and management. </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 Deep learning can assist efficient e-waste classification and sorting. </a:t>
                      </a:r>
                      <a:br>
                        <a:rPr lang="en-IN" sz="1400" dirty="0"/>
                      </a:br>
                      <a:r>
                        <a:rPr lang="en-IN" sz="1400" dirty="0"/>
                        <a:t>• Automated classification can contribute to improved environmental management.</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 </a:t>
                      </a:r>
                      <a:r>
                        <a:rPr lang="en-IN" sz="1400" b="0" dirty="0"/>
                        <a:t>Mainly concentrates on classification and sorting. </a:t>
                      </a:r>
                      <a:br>
                        <a:rPr lang="en-IN" sz="1400" b="0" dirty="0"/>
                      </a:br>
                      <a:r>
                        <a:rPr lang="en-IN" sz="1400" b="0" dirty="0"/>
                        <a:t>• Does </a:t>
                      </a:r>
                      <a:r>
                        <a:rPr lang="en-IN" sz="1400" dirty="0"/>
                        <a:t>not provide intelligent recovery-path selection. </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latin typeface="Times New Roman" panose="02020603050405020304" pitchFamily="18" charset="0"/>
                <a:cs typeface="Times New Roman" panose="02020603050405020304" pitchFamily="18" charset="0"/>
              </a:rPr>
              <a:t>5</a:t>
            </a:fld>
            <a:endParaRPr lang="en-IN">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a:extLst>
              <a:ext uri="{FF2B5EF4-FFF2-40B4-BE49-F238E27FC236}">
                <a16:creationId xmlns:a16="http://schemas.microsoft.com/office/drawing/2014/main" id="{769A214E-52AB-DF00-F510-5CAF12D847A9}"/>
              </a:ext>
            </a:extLst>
          </p:cNvPr>
          <p:cNvSpPr txBox="1"/>
          <p:nvPr/>
        </p:nvSpPr>
        <p:spPr>
          <a:xfrm>
            <a:off x="1199535" y="1852813"/>
            <a:ext cx="9792929" cy="4154984"/>
          </a:xfrm>
          <a:prstGeom prst="rect">
            <a:avLst/>
          </a:prstGeom>
          <a:noFill/>
        </p:spPr>
        <p:txBody>
          <a:bodyPr wrap="square">
            <a:spAutoFit/>
          </a:bodyPr>
          <a:lstStyle/>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Existing e-waste systems mainly focus on individual tasks such as device classification, sorting, or recycling.</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Limited intelligent automation across the complete e-waste recovery lifecycle.</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High dependency on manual decisions for selecting repair, reuse, refurbishment, or recycling pathways.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Lack of intelligent coordination between users, repair centres, </a:t>
            </a:r>
            <a:r>
              <a:rPr lang="en-IN" sz="2400" dirty="0" err="1">
                <a:latin typeface="Times New Roman" panose="02020603050405020304" pitchFamily="18" charset="0"/>
                <a:cs typeface="Times New Roman" panose="02020603050405020304" pitchFamily="18" charset="0"/>
              </a:rPr>
              <a:t>refurbishers</a:t>
            </a:r>
            <a:r>
              <a:rPr lang="en-IN" sz="2400" dirty="0">
                <a:latin typeface="Times New Roman" panose="02020603050405020304" pitchFamily="18" charset="0"/>
                <a:cs typeface="Times New Roman" panose="02020603050405020304" pitchFamily="18" charset="0"/>
              </a:rPr>
              <a:t>, reuse partners, and recyclers.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Need for an integrated Agentic AI and SOA-based system that can assess devices, make recovery decisions, and orchestrate the complete circularity process.</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AF00C3EA-BED2-F649-5624-07640B1D8E4A}"/>
              </a:ext>
            </a:extLst>
          </p:cNvPr>
          <p:cNvSpPr txBox="1"/>
          <p:nvPr/>
        </p:nvSpPr>
        <p:spPr>
          <a:xfrm>
            <a:off x="879986" y="1397575"/>
            <a:ext cx="10432026" cy="5262979"/>
          </a:xfrm>
          <a:prstGeom prst="rect">
            <a:avLst/>
          </a:prstGeom>
          <a:noFill/>
        </p:spPr>
        <p:txBody>
          <a:bodyPr wrap="square">
            <a:spAutoFit/>
          </a:bodyPr>
          <a:lstStyle/>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Autonomous AI Recovery Workflow:</a:t>
            </a:r>
            <a:r>
              <a:rPr lang="en-IN" sz="2400" dirty="0">
                <a:latin typeface="Times New Roman" panose="02020603050405020304" pitchFamily="18" charset="0"/>
                <a:cs typeface="Times New Roman" panose="02020603050405020304" pitchFamily="18" charset="0"/>
              </a:rPr>
              <a:t> Multiple AI agents collaboratively assess electronic devices and determine the most suitable recovery pathway.</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AI-Based Circularity Decision:</a:t>
            </a:r>
            <a:r>
              <a:rPr lang="en-IN" sz="2400" dirty="0">
                <a:latin typeface="Times New Roman" panose="02020603050405020304" pitchFamily="18" charset="0"/>
                <a:cs typeface="Times New Roman" panose="02020603050405020304" pitchFamily="18" charset="0"/>
              </a:rPr>
              <a:t> The system evaluates device condition and identifies whether it should be repaired, reused, refurbished, used for parts, or recycled.</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Intelligent Partner Matching:</a:t>
            </a:r>
            <a:r>
              <a:rPr lang="en-IN" sz="2400" dirty="0">
                <a:latin typeface="Times New Roman" panose="02020603050405020304" pitchFamily="18" charset="0"/>
                <a:cs typeface="Times New Roman" panose="02020603050405020304" pitchFamily="18" charset="0"/>
              </a:rPr>
              <a:t> AI automatically matches devices with suitable repair centres, </a:t>
            </a:r>
            <a:r>
              <a:rPr lang="en-IN" sz="2400" dirty="0" err="1">
                <a:latin typeface="Times New Roman" panose="02020603050405020304" pitchFamily="18" charset="0"/>
                <a:cs typeface="Times New Roman" panose="02020603050405020304" pitchFamily="18" charset="0"/>
              </a:rPr>
              <a:t>refurbishers</a:t>
            </a:r>
            <a:r>
              <a:rPr lang="en-IN" sz="2400" dirty="0">
                <a:latin typeface="Times New Roman" panose="02020603050405020304" pitchFamily="18" charset="0"/>
                <a:cs typeface="Times New Roman" panose="02020603050405020304" pitchFamily="18" charset="0"/>
              </a:rPr>
              <a:t>, reuse organizations, or authorized recyclers based on device condition and requirements.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Proactive Recovery Orchestration:</a:t>
            </a:r>
            <a:r>
              <a:rPr lang="en-IN" sz="2400" dirty="0">
                <a:latin typeface="Times New Roman" panose="02020603050405020304" pitchFamily="18" charset="0"/>
                <a:cs typeface="Times New Roman" panose="02020603050405020304" pitchFamily="18" charset="0"/>
              </a:rPr>
              <a:t> The system automatically coordinates pickup, processing, status tracking, and notifications instead of relying entirely on manual intervention.</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Integrated End-to-End Circularity:</a:t>
            </a:r>
            <a:r>
              <a:rPr lang="en-IN" sz="2400" dirty="0">
                <a:latin typeface="Times New Roman" panose="02020603050405020304" pitchFamily="18" charset="0"/>
                <a:cs typeface="Times New Roman" panose="02020603050405020304" pitchFamily="18" charset="0"/>
              </a:rPr>
              <a:t> Combines device assessment, recovery decision-making, partner matching, logistics, monitoring, and impact tracking in a single SOA-based microservices system.</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71D289D8-D5CB-E08C-3C80-2B5D2426418A}"/>
              </a:ext>
            </a:extLst>
          </p:cNvPr>
          <p:cNvSpPr txBox="1"/>
          <p:nvPr/>
        </p:nvSpPr>
        <p:spPr>
          <a:xfrm>
            <a:off x="737419" y="1502688"/>
            <a:ext cx="11316929" cy="535531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Feasibility</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Uses existing AI tools, APIs, and open-source technologies for device assessment and intelligent decision-making.</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SOA and microservices enable independent, modular, and scalable development of the recovery workflow.</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Can be developed incrementally in modules/phases, starting with basic device registration and progressing to AI-driven recovery decisions.</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Suitable for real-world use by individuals, organizations, e-waste collection centres, </a:t>
            </a:r>
            <a:r>
              <a:rPr lang="en-IN" dirty="0" err="1">
                <a:latin typeface="Times New Roman" panose="02020603050405020304" pitchFamily="18" charset="0"/>
                <a:cs typeface="Times New Roman" panose="02020603050405020304" pitchFamily="18" charset="0"/>
              </a:rPr>
              <a:t>refurbishers</a:t>
            </a:r>
            <a:r>
              <a:rPr lang="en-IN" dirty="0">
                <a:latin typeface="Times New Roman" panose="02020603050405020304" pitchFamily="18" charset="0"/>
                <a:cs typeface="Times New Roman" panose="02020603050405020304" pitchFamily="18" charset="0"/>
              </a:rPr>
              <a:t>, and recyclers.</a:t>
            </a:r>
          </a:p>
          <a:p>
            <a:pPr marL="342900" indent="-34290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Project Plan</a:t>
            </a:r>
          </a:p>
          <a:p>
            <a:r>
              <a:rPr lang="en-IN" b="1" dirty="0">
                <a:latin typeface="Times New Roman" panose="02020603050405020304" pitchFamily="18" charset="0"/>
                <a:cs typeface="Times New Roman" panose="02020603050405020304" pitchFamily="18" charset="0"/>
              </a:rPr>
              <a:t>Phase 1</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Requirements, e-waste workflow research &amp; SOA architecture design</a:t>
            </a:r>
          </a:p>
          <a:p>
            <a:r>
              <a:rPr lang="en-IN" b="1" dirty="0">
                <a:latin typeface="Times New Roman" panose="02020603050405020304" pitchFamily="18" charset="0"/>
                <a:cs typeface="Times New Roman" panose="02020603050405020304" pitchFamily="18" charset="0"/>
              </a:rPr>
              <a:t>Phase 2</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Device registration, user management &amp; authentication services</a:t>
            </a:r>
          </a:p>
          <a:p>
            <a:r>
              <a:rPr lang="en-IN" b="1" dirty="0">
                <a:latin typeface="Times New Roman" panose="02020603050405020304" pitchFamily="18" charset="0"/>
                <a:cs typeface="Times New Roman" panose="02020603050405020304" pitchFamily="18" charset="0"/>
              </a:rPr>
              <a:t>Phase 3</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AI agents for device assessment, recovery decision &amp; partner matching</a:t>
            </a:r>
          </a:p>
          <a:p>
            <a:r>
              <a:rPr lang="en-IN" b="1" dirty="0">
                <a:latin typeface="Times New Roman" panose="02020603050405020304" pitchFamily="18" charset="0"/>
                <a:cs typeface="Times New Roman" panose="02020603050405020304" pitchFamily="18" charset="0"/>
              </a:rPr>
              <a:t>Phase 4</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Logistics, recovery tracking, monitoring &amp; notification services</a:t>
            </a:r>
          </a:p>
          <a:p>
            <a:r>
              <a:rPr lang="en-IN" b="1" dirty="0">
                <a:latin typeface="Times New Roman" panose="02020603050405020304" pitchFamily="18" charset="0"/>
                <a:cs typeface="Times New Roman" panose="02020603050405020304" pitchFamily="18" charset="0"/>
              </a:rPr>
              <a:t>Phase 5</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SOA integration, Kafka event workflow, testing &amp; deployment</a:t>
            </a:r>
          </a:p>
          <a:p>
            <a:endParaRPr lang="en-IN"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035FC21C-F731-D54C-8789-095ADA23E57A}"/>
              </a:ext>
            </a:extLst>
          </p:cNvPr>
          <p:cNvGraphicFramePr>
            <a:graphicFrameLocks noGrp="1"/>
          </p:cNvGraphicFramePr>
          <p:nvPr>
            <p:extLst>
              <p:ext uri="{D42A27DB-BD31-4B8C-83A1-F6EECF244321}">
                <p14:modId xmlns:p14="http://schemas.microsoft.com/office/powerpoint/2010/main" val="3383851421"/>
              </p:ext>
            </p:extLst>
          </p:nvPr>
        </p:nvGraphicFramePr>
        <p:xfrm>
          <a:off x="1381398" y="4310027"/>
          <a:ext cx="10515600" cy="2194560"/>
        </p:xfrm>
        <a:graphic>
          <a:graphicData uri="http://schemas.openxmlformats.org/drawingml/2006/table">
            <a:tbl>
              <a:tblPr/>
              <a:tblGrid>
                <a:gridCol w="5257800">
                  <a:extLst>
                    <a:ext uri="{9D8B030D-6E8A-4147-A177-3AD203B41FA5}">
                      <a16:colId xmlns:a16="http://schemas.microsoft.com/office/drawing/2014/main" val="3339119843"/>
                    </a:ext>
                  </a:extLst>
                </a:gridCol>
                <a:gridCol w="5257800">
                  <a:extLst>
                    <a:ext uri="{9D8B030D-6E8A-4147-A177-3AD203B41FA5}">
                      <a16:colId xmlns:a16="http://schemas.microsoft.com/office/drawing/2014/main" val="1840882008"/>
                    </a:ext>
                  </a:extLst>
                </a:gridCol>
              </a:tblGrid>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654002494"/>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4196993950"/>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145750526"/>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054254863"/>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083482004"/>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040803410"/>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04E11-A943-620E-BFD4-AF1488B158C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7D6EF14-0095-080C-227D-C4519949ABAA}"/>
              </a:ext>
            </a:extLst>
          </p:cNvPr>
          <p:cNvSpPr txBox="1"/>
          <p:nvPr/>
        </p:nvSpPr>
        <p:spPr>
          <a:xfrm>
            <a:off x="1893060" y="567351"/>
            <a:ext cx="8405879"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Dataset Details</a:t>
            </a:r>
            <a:endParaRPr lang="en-US" sz="36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89F4BDC-B42C-0400-1485-9EE1EEEAA3AB}"/>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CE108EC4-A7CA-1EC1-49A6-A18344F3007B}"/>
              </a:ext>
            </a:extLst>
          </p:cNvPr>
          <p:cNvSpPr txBox="1"/>
          <p:nvPr/>
        </p:nvSpPr>
        <p:spPr>
          <a:xfrm>
            <a:off x="788664" y="1781033"/>
            <a:ext cx="10432026" cy="3785652"/>
          </a:xfrm>
          <a:prstGeom prst="rect">
            <a:avLst/>
          </a:prstGeom>
          <a:noFill/>
        </p:spPr>
        <p:txBody>
          <a:bodyPr wrap="square">
            <a:spAutoFit/>
          </a:bodyPr>
          <a:lstStyle/>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Device Information:</a:t>
            </a:r>
            <a:r>
              <a:rPr lang="en-IN" sz="2400" dirty="0">
                <a:latin typeface="Times New Roman" panose="02020603050405020304" pitchFamily="18" charset="0"/>
                <a:cs typeface="Times New Roman" panose="02020603050405020304" pitchFamily="18" charset="0"/>
              </a:rPr>
              <a:t> Dataset includes electronic-device details such as device type, brand/model, age, usage, and device category.</a:t>
            </a: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Condition &amp; Fault Data:</a:t>
            </a:r>
            <a:r>
              <a:rPr lang="en-IN" sz="2400" dirty="0">
                <a:latin typeface="Times New Roman" panose="02020603050405020304" pitchFamily="18" charset="0"/>
                <a:cs typeface="Times New Roman" panose="02020603050405020304" pitchFamily="18" charset="0"/>
              </a:rPr>
              <a:t> Includes physical condition, functional status, reported faults, battery/screen condition, and available diagnostic information.</a:t>
            </a: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Recovery Attributes:</a:t>
            </a:r>
            <a:r>
              <a:rPr lang="en-IN" sz="2400" dirty="0">
                <a:latin typeface="Times New Roman" panose="02020603050405020304" pitchFamily="18" charset="0"/>
                <a:cs typeface="Times New Roman" panose="02020603050405020304" pitchFamily="18" charset="0"/>
              </a:rPr>
              <a:t> Contains recovery outcomes such as repair, reuse, refurbishment, parts recovery, and recycling.</a:t>
            </a: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Partner Information:</a:t>
            </a:r>
            <a:r>
              <a:rPr lang="en-IN" sz="2400" dirty="0">
                <a:latin typeface="Times New Roman" panose="02020603050405020304" pitchFamily="18" charset="0"/>
                <a:cs typeface="Times New Roman" panose="02020603050405020304" pitchFamily="18" charset="0"/>
              </a:rPr>
              <a:t> Includes partner type, specialization, location, service capabilities, availability, and recovery requirements.</a:t>
            </a: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AI Decision Support:</a:t>
            </a:r>
            <a:r>
              <a:rPr lang="en-IN" sz="2400" dirty="0">
                <a:latin typeface="Times New Roman" panose="02020603050405020304" pitchFamily="18" charset="0"/>
                <a:cs typeface="Times New Roman" panose="02020603050405020304" pitchFamily="18" charset="0"/>
              </a:rPr>
              <a:t> Dataset is used by the AI workflow for device assessment, recovery-path selection, and intelligent partner matching.</a:t>
            </a:r>
          </a:p>
        </p:txBody>
      </p:sp>
    </p:spTree>
    <p:extLst>
      <p:ext uri="{BB962C8B-B14F-4D97-AF65-F5344CB8AC3E}">
        <p14:creationId xmlns:p14="http://schemas.microsoft.com/office/powerpoint/2010/main" val="3141102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D4CC9-CC39-B892-87BF-552884835E2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516572D-C936-F53A-2CEC-0815F3F57A0C}"/>
              </a:ext>
            </a:extLst>
          </p:cNvPr>
          <p:cNvSpPr txBox="1"/>
          <p:nvPr/>
        </p:nvSpPr>
        <p:spPr>
          <a:xfrm>
            <a:off x="1893060" y="567351"/>
            <a:ext cx="8405879"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Front-End Implementation &amp; Execution</a:t>
            </a:r>
            <a:endParaRPr lang="en-US" sz="36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AD12A6E-66FE-F639-2B3A-349FEE8384AD}"/>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F8B49085-97E5-532B-1C00-34103A8C0528}"/>
              </a:ext>
            </a:extLst>
          </p:cNvPr>
          <p:cNvSpPr txBox="1"/>
          <p:nvPr/>
        </p:nvSpPr>
        <p:spPr>
          <a:xfrm>
            <a:off x="788664" y="1781033"/>
            <a:ext cx="10432026" cy="4154984"/>
          </a:xfrm>
          <a:prstGeom prst="rect">
            <a:avLst/>
          </a:prstGeom>
          <a:noFill/>
        </p:spPr>
        <p:txBody>
          <a:bodyPr wrap="square">
            <a:spAutoFit/>
          </a:bodyPr>
          <a:lstStyle/>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User Interface:</a:t>
            </a:r>
            <a:r>
              <a:rPr lang="en-IN" sz="2400" dirty="0">
                <a:latin typeface="Times New Roman" panose="02020603050405020304" pitchFamily="18" charset="0"/>
                <a:cs typeface="Times New Roman" panose="02020603050405020304" pitchFamily="18" charset="0"/>
              </a:rPr>
              <a:t> Developed a web-based interface for users to register and submit electronic devices for recovery.</a:t>
            </a: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Device Registration:</a:t>
            </a:r>
            <a:r>
              <a:rPr lang="en-IN" sz="2400" dirty="0">
                <a:latin typeface="Times New Roman" panose="02020603050405020304" pitchFamily="18" charset="0"/>
                <a:cs typeface="Times New Roman" panose="02020603050405020304" pitchFamily="18" charset="0"/>
              </a:rPr>
              <a:t> Implemented forms to capture device type, brand/model, age, condition, faults, location, and other device information.</a:t>
            </a: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AI Assessment &amp; Decision:</a:t>
            </a:r>
            <a:r>
              <a:rPr lang="en-IN" sz="2400" dirty="0">
                <a:latin typeface="Times New Roman" panose="02020603050405020304" pitchFamily="18" charset="0"/>
                <a:cs typeface="Times New Roman" panose="02020603050405020304" pitchFamily="18" charset="0"/>
              </a:rPr>
              <a:t> Front-end displays the device assessment, recovery scores, recommended recovery pathway, and decision information.</a:t>
            </a: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Recovery Tracking:</a:t>
            </a:r>
            <a:r>
              <a:rPr lang="en-IN" sz="2400" dirty="0">
                <a:latin typeface="Times New Roman" panose="02020603050405020304" pitchFamily="18" charset="0"/>
                <a:cs typeface="Times New Roman" panose="02020603050405020304" pitchFamily="18" charset="0"/>
              </a:rPr>
              <a:t> Provides users with visibility into recovery stages such as assessment, partner assignment, pickup, processing, and completion.</a:t>
            </a: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Backend Integration:</a:t>
            </a:r>
            <a:r>
              <a:rPr lang="en-IN" sz="2400" dirty="0">
                <a:latin typeface="Times New Roman" panose="02020603050405020304" pitchFamily="18" charset="0"/>
                <a:cs typeface="Times New Roman" panose="02020603050405020304" pitchFamily="18" charset="0"/>
              </a:rPr>
              <a:t> Front-end communicates with the project’s backend services through REST APIs, enabling execution of the device recovery workflow.</a:t>
            </a:r>
          </a:p>
        </p:txBody>
      </p:sp>
    </p:spTree>
    <p:extLst>
      <p:ext uri="{BB962C8B-B14F-4D97-AF65-F5344CB8AC3E}">
        <p14:creationId xmlns:p14="http://schemas.microsoft.com/office/powerpoint/2010/main" val="1103027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D444B-1D9B-F099-355C-CB99288118B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2D06382-0C67-EB5C-203B-0CF84E53863E}"/>
              </a:ext>
            </a:extLst>
          </p:cNvPr>
          <p:cNvSpPr txBox="1"/>
          <p:nvPr/>
        </p:nvSpPr>
        <p:spPr>
          <a:xfrm>
            <a:off x="1893060" y="567351"/>
            <a:ext cx="8405879"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Project Progress / Implementation Status</a:t>
            </a:r>
            <a:endParaRPr lang="en-US" sz="36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385984D-3295-8498-8566-4ED24BA852E0}"/>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6089CD73-E65E-852E-719F-5ED4E23AF1BA}"/>
              </a:ext>
            </a:extLst>
          </p:cNvPr>
          <p:cNvSpPr txBox="1"/>
          <p:nvPr/>
        </p:nvSpPr>
        <p:spPr>
          <a:xfrm>
            <a:off x="879986" y="1781033"/>
            <a:ext cx="10432026" cy="4524315"/>
          </a:xfrm>
          <a:prstGeom prst="rect">
            <a:avLst/>
          </a:prstGeom>
          <a:noFill/>
        </p:spPr>
        <p:txBody>
          <a:bodyPr wrap="square">
            <a:spAutoFit/>
          </a:bodyPr>
          <a:lstStyle/>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Architecture Implemented:</a:t>
            </a:r>
            <a:r>
              <a:rPr lang="en-IN" sz="2400" dirty="0">
                <a:latin typeface="Times New Roman" panose="02020603050405020304" pitchFamily="18" charset="0"/>
                <a:cs typeface="Times New Roman" panose="02020603050405020304" pitchFamily="18" charset="0"/>
              </a:rPr>
              <a:t> Established the SOA and microservices-based architecture with separate services for device management, AI assessment, decisions, partners, recovery, and notifications.</a:t>
            </a: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Core Workflow Implemented:</a:t>
            </a:r>
            <a:r>
              <a:rPr lang="en-IN" sz="2400" dirty="0">
                <a:latin typeface="Times New Roman" panose="02020603050405020304" pitchFamily="18" charset="0"/>
                <a:cs typeface="Times New Roman" panose="02020603050405020304" pitchFamily="18" charset="0"/>
              </a:rPr>
              <a:t> Implemented the initial workflow for device registration, device information management, and recovery processing.</a:t>
            </a: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AI Workflow Integrated:</a:t>
            </a:r>
            <a:r>
              <a:rPr lang="en-IN" sz="2400" dirty="0">
                <a:latin typeface="Times New Roman" panose="02020603050405020304" pitchFamily="18" charset="0"/>
                <a:cs typeface="Times New Roman" panose="02020603050405020304" pitchFamily="18" charset="0"/>
              </a:rPr>
              <a:t> Integrated the AI-based workflow for device assessment and circularity decision-making.</a:t>
            </a: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Front-End Implemented:</a:t>
            </a:r>
            <a:r>
              <a:rPr lang="en-IN" sz="2400" dirty="0">
                <a:latin typeface="Times New Roman" panose="02020603050405020304" pitchFamily="18" charset="0"/>
                <a:cs typeface="Times New Roman" panose="02020603050405020304" pitchFamily="18" charset="0"/>
              </a:rPr>
              <a:t> Developed and executed the user-facing screens for device submission, assessment, recovery decision, and workflow tracking.</a:t>
            </a: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Integration &amp; Enhancement:</a:t>
            </a:r>
            <a:r>
              <a:rPr lang="en-IN" sz="2400" dirty="0">
                <a:latin typeface="Times New Roman" panose="02020603050405020304" pitchFamily="18" charset="0"/>
                <a:cs typeface="Times New Roman" panose="02020603050405020304" pitchFamily="18" charset="0"/>
              </a:rPr>
              <a:t> Progressing toward complete partner matching, recovery orchestration, Kafka event communication, monitoring, notifications, testing, and deployment.</a:t>
            </a:r>
          </a:p>
        </p:txBody>
      </p:sp>
    </p:spTree>
    <p:extLst>
      <p:ext uri="{BB962C8B-B14F-4D97-AF65-F5344CB8AC3E}">
        <p14:creationId xmlns:p14="http://schemas.microsoft.com/office/powerpoint/2010/main" val="1082926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1353</Words>
  <Application>Microsoft Office PowerPoint</Application>
  <PresentationFormat>Widescreen</PresentationFormat>
  <Paragraphs>120</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 Sudarsan Krishna</dc:creator>
  <cp:lastModifiedBy>A Sudarsan Krishna</cp:lastModifiedBy>
  <cp:revision>15</cp:revision>
  <dcterms:created xsi:type="dcterms:W3CDTF">2026-08-13T08:38:42Z</dcterms:created>
  <dcterms:modified xsi:type="dcterms:W3CDTF">2026-09-23T16:43:32Z</dcterms:modified>
</cp:coreProperties>
</file>