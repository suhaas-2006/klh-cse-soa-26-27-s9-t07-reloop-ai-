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2" r:id="rId2"/>
    <p:sldId id="707" r:id="rId3"/>
    <p:sldId id="257" r:id="rId4"/>
    <p:sldId id="903" r:id="rId5"/>
    <p:sldId id="902" r:id="rId6"/>
    <p:sldId id="258" r:id="rId7"/>
    <p:sldId id="259"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A7F621-56BA-4521-AAB5-41CEE785053C}" type="datetimeFigureOut">
              <a:rPr lang="en-IN" smtClean="0"/>
              <a:t>28-08-2026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158C5-310D-492A-9416-6204AEA7226B}" type="slidenum">
              <a:rPr lang="en-IN" smtClean="0"/>
              <a:t>‹#›</a:t>
            </a:fld>
            <a:endParaRPr lang="en-IN"/>
          </a:p>
        </p:txBody>
      </p:sp>
    </p:spTree>
    <p:extLst>
      <p:ext uri="{BB962C8B-B14F-4D97-AF65-F5344CB8AC3E}">
        <p14:creationId xmlns:p14="http://schemas.microsoft.com/office/powerpoint/2010/main" val="1456602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5F7E9-AF6F-52A6-3A44-87D195B0C0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0BD637-E9EB-B504-729E-2C0A8B318A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731044A-6D1D-B98C-56F3-713D86BF0F79}"/>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5" name="Footer Placeholder 4">
            <a:extLst>
              <a:ext uri="{FF2B5EF4-FFF2-40B4-BE49-F238E27FC236}">
                <a16:creationId xmlns:a16="http://schemas.microsoft.com/office/drawing/2014/main" id="{5EBDFC18-C658-6197-1031-0FBA480E10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64AE2E-A35D-A67C-CE0A-7F8ACE248F61}"/>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123391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1291A-F2FF-816C-2D0F-DD7EFBC351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681782-D89C-B392-D1F5-171DC9AD2A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513DB2-D1D0-B01E-462E-5E132120B8E2}"/>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5" name="Footer Placeholder 4">
            <a:extLst>
              <a:ext uri="{FF2B5EF4-FFF2-40B4-BE49-F238E27FC236}">
                <a16:creationId xmlns:a16="http://schemas.microsoft.com/office/drawing/2014/main" id="{D7108669-DD9B-DBED-3A01-B4AC086E6A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ADD038-A7CE-35B0-9F55-E5D22D257BAE}"/>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410004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75D8A-8FC5-12A4-6507-E045142637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000ADF-6085-7CEF-30D7-670A133B41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AFD627-3E50-8DDF-C2D3-54BF653BBADF}"/>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5" name="Footer Placeholder 4">
            <a:extLst>
              <a:ext uri="{FF2B5EF4-FFF2-40B4-BE49-F238E27FC236}">
                <a16:creationId xmlns:a16="http://schemas.microsoft.com/office/drawing/2014/main" id="{098B5194-826D-AC38-C17B-34E193B9AD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DC8050-2F84-1E49-29D5-0CFFF3948E0F}"/>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2412713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D5FB-9FF3-7454-ACCF-E6616AF102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857575-3C90-126C-C92B-07F347CCB1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C1868A-6081-DC50-A5C3-9FA7AC9A94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F1D206-9555-46BD-222D-423D788442E1}"/>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6" name="Footer Placeholder 5">
            <a:extLst>
              <a:ext uri="{FF2B5EF4-FFF2-40B4-BE49-F238E27FC236}">
                <a16:creationId xmlns:a16="http://schemas.microsoft.com/office/drawing/2014/main" id="{325D49C2-FD7A-C7E4-A71D-A1CBF737B1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BD08F9-8CD9-6B0B-E7C6-DEEA5F620F60}"/>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960903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FB460-5B94-7168-438C-BF4E0EE1DD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B26E-813B-010D-8DA7-7CF1F722B8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E4E9CF-6B22-8E80-2E55-1603ABFC91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C892D7-A21D-EAF7-85FF-BC812721A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0CF3CE-7FCD-E0B8-0C99-79F4EB5270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E4D8A8-6F15-203C-7694-1CFE39B108F1}"/>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8" name="Footer Placeholder 7">
            <a:extLst>
              <a:ext uri="{FF2B5EF4-FFF2-40B4-BE49-F238E27FC236}">
                <a16:creationId xmlns:a16="http://schemas.microsoft.com/office/drawing/2014/main" id="{9281B274-39F4-AD0B-7B9B-677D947EE6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8DE76C-D341-507A-45EE-196EA5B1CBFF}"/>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342909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6FB7E-FB0E-D00C-E535-15770B3F6A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244AEC-2671-ADAD-0DF0-362377A033EE}"/>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4" name="Footer Placeholder 3">
            <a:extLst>
              <a:ext uri="{FF2B5EF4-FFF2-40B4-BE49-F238E27FC236}">
                <a16:creationId xmlns:a16="http://schemas.microsoft.com/office/drawing/2014/main" id="{70129119-AF3E-7A0C-8BDE-F03AB4B101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A6570D-DCAB-FBF0-7BAC-C979B426F934}"/>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3339453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978E59-88A5-C98E-6F8A-A65233EF26EA}"/>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3" name="Footer Placeholder 2">
            <a:extLst>
              <a:ext uri="{FF2B5EF4-FFF2-40B4-BE49-F238E27FC236}">
                <a16:creationId xmlns:a16="http://schemas.microsoft.com/office/drawing/2014/main" id="{C7B3465C-827B-A2FF-CC86-D367A2E993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E9D20A-2AC7-956C-8D1B-1EBF0F4A1BC2}"/>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4175201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C7CC7-31A2-4874-52D5-5FA2E9D23D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2BA7A0-1707-F9B9-7A12-322EEF7E7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E439DA-F71E-1D9B-BDF1-9B548E598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59E9AE-10E4-B7F1-5F66-CAD8E658651D}"/>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6" name="Footer Placeholder 5">
            <a:extLst>
              <a:ext uri="{FF2B5EF4-FFF2-40B4-BE49-F238E27FC236}">
                <a16:creationId xmlns:a16="http://schemas.microsoft.com/office/drawing/2014/main" id="{422040F3-F2AB-8E4B-C935-10AE86CCDE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368C4B-5FFE-5FCB-D0BB-DD1C5A93B663}"/>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196039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C83B4-B5E5-D6FF-BB79-8C8234BD9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4CCD1D-D81E-77F9-52EB-BE29A93DF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FE9243-B7E9-A471-ADEB-52A84A4C1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0EB2B7-6297-E48F-67D8-F1624B074B6C}"/>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6" name="Footer Placeholder 5">
            <a:extLst>
              <a:ext uri="{FF2B5EF4-FFF2-40B4-BE49-F238E27FC236}">
                <a16:creationId xmlns:a16="http://schemas.microsoft.com/office/drawing/2014/main" id="{43168D6E-0BE5-0B94-B52E-46F5EBF9B6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DD0171-FFAB-6940-DE1C-867F74FB14C9}"/>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1169136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9BBB3-8CF3-3703-0BE7-017A62FE09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DD5804-F1C6-8777-E876-D82511F0A1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3085BD-C095-F5AD-6011-EFE856D1A765}"/>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5" name="Footer Placeholder 4">
            <a:extLst>
              <a:ext uri="{FF2B5EF4-FFF2-40B4-BE49-F238E27FC236}">
                <a16:creationId xmlns:a16="http://schemas.microsoft.com/office/drawing/2014/main" id="{45EA87D3-161F-3109-8D1E-FFDD60D544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037611-3F0A-6A8D-4A40-DE7FAF247AFC}"/>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369637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B9FA7-BE8F-5665-5C7C-E099B630E1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1F6FCF-4FCD-AFF3-166B-33D45B9DB4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7AA191-0CCC-B5C8-D2D0-ADE1095E691C}"/>
              </a:ext>
            </a:extLst>
          </p:cNvPr>
          <p:cNvSpPr>
            <a:spLocks noGrp="1"/>
          </p:cNvSpPr>
          <p:nvPr>
            <p:ph type="dt" sz="half" idx="10"/>
          </p:nvPr>
        </p:nvSpPr>
        <p:spPr/>
        <p:txBody>
          <a:bodyPr/>
          <a:lstStyle/>
          <a:p>
            <a:fld id="{2A929E18-ACEB-4D8B-8C14-931451595B35}" type="datetimeFigureOut">
              <a:rPr lang="en-IN" smtClean="0"/>
              <a:t>28-08-2026</a:t>
            </a:fld>
            <a:endParaRPr lang="en-IN"/>
          </a:p>
        </p:txBody>
      </p:sp>
      <p:sp>
        <p:nvSpPr>
          <p:cNvPr id="5" name="Footer Placeholder 4">
            <a:extLst>
              <a:ext uri="{FF2B5EF4-FFF2-40B4-BE49-F238E27FC236}">
                <a16:creationId xmlns:a16="http://schemas.microsoft.com/office/drawing/2014/main" id="{AEAF4A07-363C-F610-00BC-3FD9AF5EE8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EACB18-F9D1-21B5-AC07-C1868FE8B8EA}"/>
              </a:ext>
            </a:extLst>
          </p:cNvPr>
          <p:cNvSpPr>
            <a:spLocks noGrp="1"/>
          </p:cNvSpPr>
          <p:nvPr>
            <p:ph type="sldNum" sz="quarter" idx="12"/>
          </p:nvPr>
        </p:nvSpPr>
        <p:spPr/>
        <p:txBody>
          <a:bodyPr/>
          <a:lstStyle/>
          <a:p>
            <a:fld id="{07865184-479D-47FA-9EBD-2BF5C3F17907}" type="slidenum">
              <a:rPr lang="en-IN" smtClean="0"/>
              <a:t>‹#›</a:t>
            </a:fld>
            <a:endParaRPr lang="en-IN"/>
          </a:p>
        </p:txBody>
      </p:sp>
    </p:spTree>
    <p:extLst>
      <p:ext uri="{BB962C8B-B14F-4D97-AF65-F5344CB8AC3E}">
        <p14:creationId xmlns:p14="http://schemas.microsoft.com/office/powerpoint/2010/main" val="351837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D04ED5-9A1C-B4BC-17E5-413E781C7C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3C2EFB-496A-5322-9AE2-AF885B1284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44D5E0-4F2C-1FEE-8456-F85DD9042F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929E18-ACEB-4D8B-8C14-931451595B35}" type="datetimeFigureOut">
              <a:rPr lang="en-IN" smtClean="0"/>
              <a:t>28-08-2026</a:t>
            </a:fld>
            <a:endParaRPr lang="en-IN"/>
          </a:p>
        </p:txBody>
      </p:sp>
      <p:sp>
        <p:nvSpPr>
          <p:cNvPr id="5" name="Footer Placeholder 4">
            <a:extLst>
              <a:ext uri="{FF2B5EF4-FFF2-40B4-BE49-F238E27FC236}">
                <a16:creationId xmlns:a16="http://schemas.microsoft.com/office/drawing/2014/main" id="{CD0D43E6-C658-174E-46AE-D4867AC9D2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86C12B4-F1E6-5DFA-3592-E595A5CBAA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865184-479D-47FA-9EBD-2BF5C3F17907}" type="slidenum">
              <a:rPr lang="en-IN" smtClean="0"/>
              <a:t>‹#›</a:t>
            </a:fld>
            <a:endParaRPr lang="en-IN"/>
          </a:p>
        </p:txBody>
      </p:sp>
    </p:spTree>
    <p:extLst>
      <p:ext uri="{BB962C8B-B14F-4D97-AF65-F5344CB8AC3E}">
        <p14:creationId xmlns:p14="http://schemas.microsoft.com/office/powerpoint/2010/main" val="128971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440963926"/>
              </p:ext>
            </p:extLst>
          </p:nvPr>
        </p:nvGraphicFramePr>
        <p:xfrm>
          <a:off x="8193271" y="4898509"/>
          <a:ext cx="3702050" cy="118872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800" b="1" kern="1200" dirty="0">
                          <a:solidFill>
                            <a:schemeClr val="dk1"/>
                          </a:solidFill>
                          <a:latin typeface="Times New Roman" panose="02020603050405020304" pitchFamily="18" charset="0"/>
                          <a:ea typeface="Cambria"/>
                          <a:cs typeface="Times New Roman" panose="02020603050405020304" pitchFamily="18" charset="0"/>
                        </a:rPr>
                        <a:t>N Sai Suhaas - 2420030734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Times New Roman" panose="02020603050405020304" pitchFamily="18" charset="0"/>
                          <a:ea typeface="Cambria"/>
                          <a:cs typeface="Times New Roman" panose="02020603050405020304" pitchFamily="18" charset="0"/>
                        </a:rPr>
                        <a:t>A Sudarsan Krishna – 2420030641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Times New Roman" panose="02020603050405020304" pitchFamily="18" charset="0"/>
                          <a:ea typeface="Cambria"/>
                          <a:cs typeface="Times New Roman" panose="02020603050405020304" pitchFamily="18" charset="0"/>
                        </a:rPr>
                        <a:t>K Sai Dhanush - 2420030769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906608097"/>
              </p:ext>
            </p:extLst>
          </p:nvPr>
        </p:nvGraphicFramePr>
        <p:xfrm>
          <a:off x="-776149" y="4496429"/>
          <a:ext cx="7717723" cy="1838960"/>
        </p:xfrm>
        <a:graphic>
          <a:graphicData uri="http://schemas.openxmlformats.org/drawingml/2006/table">
            <a:tbl>
              <a:tblPr firstRow="1" bandRow="1">
                <a:tableStyleId>{5940675A-B579-460E-94D1-54222C63F5DA}</a:tableStyleId>
              </a:tblPr>
              <a:tblGrid>
                <a:gridCol w="1796037">
                  <a:extLst>
                    <a:ext uri="{9D8B030D-6E8A-4147-A177-3AD203B41FA5}">
                      <a16:colId xmlns:a16="http://schemas.microsoft.com/office/drawing/2014/main" val="40058472"/>
                    </a:ext>
                  </a:extLst>
                </a:gridCol>
                <a:gridCol w="5921686">
                  <a:extLst>
                    <a:ext uri="{9D8B030D-6E8A-4147-A177-3AD203B41FA5}">
                      <a16:colId xmlns:a16="http://schemas.microsoft.com/office/drawing/2014/main" val="1330242319"/>
                    </a:ext>
                  </a:extLst>
                </a:gridCol>
              </a:tblGrid>
              <a:tr h="1332118">
                <a:tc>
                  <a:txBody>
                    <a:bodyPr/>
                    <a:lstStyle/>
                    <a:p>
                      <a:endParaRPr lang="en-IN" sz="1800" b="1"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1800" b="1" dirty="0">
                        <a:solidFill>
                          <a:srgbClr val="C00000"/>
                        </a:solidFill>
                        <a:latin typeface="Times New Roman" panose="02020603050405020304" pitchFamily="18" charset="0"/>
                        <a:cs typeface="Times New Roman" panose="02020603050405020304" pitchFamily="18" charset="0"/>
                      </a:endParaRPr>
                    </a:p>
                    <a:p>
                      <a:r>
                        <a:rPr lang="en-IN" sz="18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K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Venkateswari</a:t>
                      </a: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 </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8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800" b="1"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924300" y="4379931"/>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983870"/>
            <a:ext cx="10715625" cy="523220"/>
          </a:xfrm>
          <a:prstGeom prst="rect">
            <a:avLst/>
          </a:prstGeom>
          <a:noFill/>
        </p:spPr>
        <p:txBody>
          <a:bodyPr wrap="square">
            <a:spAutoFit/>
          </a:bodyPr>
          <a:lstStyle/>
          <a:p>
            <a:pPr algn="ctr">
              <a:lnSpc>
                <a:spcPct val="100000"/>
              </a:lnSpc>
              <a:spcAft>
                <a:spcPts val="800"/>
              </a:spcAft>
              <a:buNone/>
            </a:pPr>
            <a:r>
              <a:rPr lang="en-IN" sz="2800" b="1" dirty="0" err="1">
                <a:solidFill>
                  <a:schemeClr val="bg1"/>
                </a:solidFill>
                <a:latin typeface="Times New Roman" panose="02020603050405020304" pitchFamily="18" charset="0"/>
                <a:cs typeface="Times New Roman" panose="02020603050405020304" pitchFamily="18" charset="0"/>
              </a:rPr>
              <a:t>ReLoop</a:t>
            </a:r>
            <a:r>
              <a:rPr lang="en-IN" sz="2800" b="1" dirty="0">
                <a:solidFill>
                  <a:schemeClr val="bg1"/>
                </a:solidFill>
                <a:latin typeface="Times New Roman" panose="02020603050405020304" pitchFamily="18" charset="0"/>
                <a:cs typeface="Times New Roman" panose="02020603050405020304" pitchFamily="18" charset="0"/>
              </a:rPr>
              <a:t> AI – Agentic E-Waste Recovery &amp; Circularity Orchestrator</a:t>
            </a:r>
            <a:endParaRPr lang="en-IN" sz="28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45A3880-A2D7-A8BA-7CAE-32C89477E401}"/>
              </a:ext>
            </a:extLst>
          </p:cNvPr>
          <p:cNvSpPr txBox="1"/>
          <p:nvPr/>
        </p:nvSpPr>
        <p:spPr>
          <a:xfrm>
            <a:off x="727586" y="1384202"/>
            <a:ext cx="10736827" cy="5262979"/>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Traditional e-waste disposal systems largely depend on users or collection centres manually deciding whether electronic devices should be repaired, reused, refurbished, or recycled. As the volume and variety of discarded electronics increases, this leads to:</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Premature disposal of repairable or reusable electronic devices.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Lack of intelligent assessment of a device's condition and remaining useful life.</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Difficulty in identifying the most sustainable recovery option for each device.</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Limited coordination between users, repair/refurbishment centres, reuse partners, and recyclers.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Loss of valuable components and materials that could be recovered and reused.</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Lack of proactive tracking and orchestration throughout the device's recovery journey.</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Limited intelligence in existing systems to make context-aware decisions between repair, reuse, refurbishment, parts recovery, and recycling.</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891957"/>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BA21ACDD-F092-4CE2-44C3-B1CDD80C3F90}"/>
              </a:ext>
            </a:extLst>
          </p:cNvPr>
          <p:cNvSpPr txBox="1"/>
          <p:nvPr/>
        </p:nvSpPr>
        <p:spPr>
          <a:xfrm>
            <a:off x="766916" y="1811059"/>
            <a:ext cx="11189109" cy="4154984"/>
          </a:xfrm>
          <a:prstGeom prst="rect">
            <a:avLst/>
          </a:prstGeom>
          <a:noFill/>
        </p:spPr>
        <p:txBody>
          <a:bodyPr wrap="square">
            <a:sp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Develop an Agentic AI-powered e-waste recovery system for intelligent and sustainable electronic-device management.</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Automatically assess the condition, repairability, reusability, and recovery potential of discarded electronic devices.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Intelligently determine the most suitable pathway such as repair, reuse, refurbishment, parts recovery, or recycling.</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Automatically match devices with appropriate repair, refurbishment, reuse, and authorized recycling partners and coordinate the recovery process.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Implement a scalable SOA and microservices-based architecture to improve e-waste recovery efficiency, reduce unnecessary disposal, and maximize material and device reuse.</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300855620"/>
              </p:ext>
            </p:extLst>
          </p:nvPr>
        </p:nvGraphicFramePr>
        <p:xfrm>
          <a:off x="274646" y="886112"/>
          <a:ext cx="11642705" cy="492943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l">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l">
                        <a:buNone/>
                      </a:pPr>
                      <a:r>
                        <a:rPr lang="en-US" dirty="0">
                          <a:latin typeface="Times New Roman" pitchFamily="18" charset="0"/>
                          <a:cs typeface="Times New Roman" pitchFamily="18" charset="0"/>
                        </a:rPr>
                        <a:t>Methodology</a:t>
                      </a:r>
                    </a:p>
                  </a:txBody>
                  <a:tcPr>
                    <a:solidFill>
                      <a:srgbClr val="FFFF00"/>
                    </a:solidFill>
                  </a:tcPr>
                </a:tc>
                <a:tc>
                  <a:txBody>
                    <a:bodyPr/>
                    <a:lstStyle/>
                    <a:p>
                      <a:pPr algn="l">
                        <a:buNone/>
                      </a:pPr>
                      <a:r>
                        <a:rPr lang="en-US" dirty="0">
                          <a:latin typeface="Times New Roman" pitchFamily="18" charset="0"/>
                          <a:cs typeface="Times New Roman" pitchFamily="18" charset="0"/>
                        </a:rPr>
                        <a:t>Inferences</a:t>
                      </a:r>
                    </a:p>
                  </a:txBody>
                  <a:tcPr>
                    <a:solidFill>
                      <a:srgbClr val="FFFF00"/>
                    </a:solidFill>
                  </a:tcPr>
                </a:tc>
                <a:tc>
                  <a:txBody>
                    <a:bodyPr/>
                    <a:lstStyle/>
                    <a:p>
                      <a:pPr algn="l">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t>Jano et al. (2026)</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lgn="l"/>
                      <a:r>
                        <a:rPr lang="en-IN" sz="1400" dirty="0"/>
                        <a:t>Closing the Loop: A Systematic Review of Artificial Intelligence in Circular E-Waste Management</a:t>
                      </a:r>
                      <a:endParaRPr lang="en-IN" sz="1400" b="0"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Reviewed 147 studies on AI in circular e-waste management. </a:t>
                      </a:r>
                      <a:br>
                        <a:rPr lang="en-IN" sz="1400" dirty="0"/>
                      </a:br>
                      <a:r>
                        <a:rPr lang="en-IN" sz="1400" dirty="0"/>
                        <a:t>• Analysed AI applications across collection, classification, sorting, recovery and second-life use. </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AI can support multiple stages of the e-waste lifecycle. </a:t>
                      </a:r>
                      <a:br>
                        <a:rPr lang="en-IN" sz="1400" dirty="0"/>
                      </a:br>
                      <a:r>
                        <a:rPr lang="en-IN" sz="1400" dirty="0"/>
                        <a:t>• Deep learning and computer vision are widely used, particularly for detection and classification. </a:t>
                      </a:r>
                      <a:br>
                        <a:rPr lang="en-IN" sz="1400" dirty="0"/>
                      </a:br>
                      <a:r>
                        <a:rPr lang="en-IN" sz="1400" dirty="0"/>
                        <a:t>• AI has potential to support circular and closed-loop e-waste systems.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 Existing AI applications are largely fragmented across individual lifecycle stages. </a:t>
                      </a:r>
                      <a:br>
                        <a:rPr lang="en-IN" sz="1400" dirty="0"/>
                      </a:br>
                      <a:r>
                        <a:rPr lang="en-IN" sz="1400" dirty="0"/>
                        <a:t>• Data availability, interoperability and standardization remain challenges. </a:t>
                      </a:r>
                      <a:br>
                        <a:rPr lang="en-IN" sz="1400" dirty="0"/>
                      </a:b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algn="l">
                        <a:buNone/>
                      </a:pPr>
                      <a:r>
                        <a:rPr lang="en-IN" sz="1400" dirty="0"/>
                        <a:t>Rajeev et al. (2025)</a:t>
                      </a:r>
                      <a:endParaRPr lang="en-IN" sz="1400" b="0" dirty="0"/>
                    </a:p>
                  </a:txBody>
                  <a:tcPr anchor="ctr"/>
                </a:tc>
                <a:tc>
                  <a:txBody>
                    <a:bodyPr/>
                    <a:lstStyle/>
                    <a:p>
                      <a:pPr algn="l">
                        <a:buNone/>
                      </a:pPr>
                      <a:r>
                        <a:rPr lang="en-IN" sz="1400" dirty="0"/>
                        <a:t>Advancing E-Waste Classification with Customizable YOLO Based Deep Learning Models</a:t>
                      </a:r>
                      <a:endParaRPr lang="en-IN" sz="1400" b="0" dirty="0"/>
                    </a:p>
                  </a:txBody>
                  <a:tcPr anchor="ctr"/>
                </a:tc>
                <a:tc>
                  <a:txBody>
                    <a:bodyPr/>
                    <a:lstStyle/>
                    <a:p>
                      <a:pPr marL="0" indent="0" algn="l">
                        <a:buFont typeface="Arial" panose="020B0604020202020204" pitchFamily="34" charset="0"/>
                        <a:buNone/>
                      </a:pPr>
                      <a:r>
                        <a:rPr lang="en-IN" sz="1400" dirty="0"/>
                        <a:t>• Applied YOLO-based deep learning models for e-waste classification. </a:t>
                      </a:r>
                      <a:br>
                        <a:rPr lang="en-IN" sz="1400" dirty="0"/>
                      </a:br>
                      <a:r>
                        <a:rPr lang="en-IN" sz="1400" dirty="0"/>
                        <a:t>• Used computer vision to identify different categories of electronic waste. </a:t>
                      </a:r>
                      <a:br>
                        <a:rPr lang="en-IN" sz="1400" dirty="0"/>
                      </a:br>
                      <a:endParaRPr lang="en-IN" sz="1400" b="0" dirty="0"/>
                    </a:p>
                  </a:txBody>
                  <a:tcPr anchor="ctr"/>
                </a:tc>
                <a:tc>
                  <a:txBody>
                    <a:bodyPr/>
                    <a:lstStyle/>
                    <a:p>
                      <a:pPr algn="l">
                        <a:buNone/>
                      </a:pPr>
                      <a:r>
                        <a:rPr lang="en-IN" sz="1400" dirty="0"/>
                        <a:t>• Deep learning can improve automated identification and classification of e-waste. </a:t>
                      </a:r>
                      <a:br>
                        <a:rPr lang="en-IN" sz="1400" dirty="0"/>
                      </a:br>
                      <a:r>
                        <a:rPr lang="en-IN" sz="1400" dirty="0"/>
                        <a:t>• Computer vision can reduce dependence on manual sorting.</a:t>
                      </a:r>
                      <a:endParaRPr lang="en-IN" sz="1400" b="0" dirty="0"/>
                    </a:p>
                  </a:txBody>
                  <a:tcPr anchor="ctr"/>
                </a:tc>
                <a:tc>
                  <a:txBody>
                    <a:bodyPr/>
                    <a:lstStyle/>
                    <a:p>
                      <a:pPr algn="l">
                        <a:buNone/>
                      </a:pPr>
                      <a:r>
                        <a:rPr lang="en-IN" sz="1400" dirty="0"/>
                        <a:t>• </a:t>
                      </a:r>
                      <a:r>
                        <a:rPr lang="en-IN" sz="1400" b="0" dirty="0"/>
                        <a:t>Primarily focuses on classification and identification. </a:t>
                      </a:r>
                      <a:br>
                        <a:rPr lang="en-IN" sz="1400" b="0" dirty="0"/>
                      </a:br>
                      <a:r>
                        <a:rPr lang="en-IN" sz="1400" b="0" dirty="0"/>
                        <a:t>• Does not </a:t>
                      </a:r>
                      <a:r>
                        <a:rPr lang="en-IN" sz="1400" dirty="0"/>
                        <a:t>determine whether an individual device should be repaired, reused, refurbished or recycled. </a:t>
                      </a:r>
                      <a:br>
                        <a:rPr lang="en-IN" sz="1400" dirty="0"/>
                      </a:br>
                      <a:r>
                        <a:rPr lang="en-IN" sz="1400" dirty="0"/>
                        <a:t>• Does not provide end-to-end recovery orchestration.</a:t>
                      </a:r>
                      <a:endParaRPr lang="en-IN" sz="1400" b="0" dirty="0"/>
                    </a:p>
                  </a:txBody>
                  <a:tcPr anchor="ct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t>Oise &amp; </a:t>
                      </a:r>
                      <a:r>
                        <a:rPr lang="en-IN" sz="1400" dirty="0" err="1"/>
                        <a:t>Konyeha</a:t>
                      </a:r>
                      <a:r>
                        <a:rPr lang="en-IN" sz="1400" dirty="0"/>
                        <a:t> (2025)</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l"/>
                      <a:r>
                        <a:rPr lang="en-IN" sz="1400" dirty="0"/>
                        <a:t>Environmental Impacts in E-Waste Management Using Deep Learning</a:t>
                      </a:r>
                      <a:endParaRPr lang="en-IN" sz="1400" b="0"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Used deep learning models including </a:t>
                      </a:r>
                      <a:r>
                        <a:rPr lang="en-IN" sz="1400" dirty="0" err="1"/>
                        <a:t>EfficientNet</a:t>
                      </a:r>
                      <a:r>
                        <a:rPr lang="en-IN" sz="1400" dirty="0"/>
                        <a:t> and </a:t>
                      </a:r>
                      <a:r>
                        <a:rPr lang="en-IN" sz="1400" dirty="0" err="1"/>
                        <a:t>MobileNet</a:t>
                      </a:r>
                      <a:r>
                        <a:rPr lang="en-IN" sz="1400" dirty="0"/>
                        <a:t>. </a:t>
                      </a:r>
                      <a:br>
                        <a:rPr lang="en-IN" sz="1400" dirty="0"/>
                      </a:br>
                      <a:r>
                        <a:rPr lang="en-IN" sz="1400" dirty="0"/>
                        <a:t>• Classified different e-waste categories to support sorting and management. </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 Deep learning can assist efficient e-waste classification and sorting. </a:t>
                      </a:r>
                      <a:br>
                        <a:rPr lang="en-IN" sz="1400" dirty="0"/>
                      </a:br>
                      <a:r>
                        <a:rPr lang="en-IN" sz="1400" dirty="0"/>
                        <a:t>• Automated classification can contribute to improved environmental management.</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 </a:t>
                      </a:r>
                      <a:r>
                        <a:rPr lang="en-IN" sz="1400" b="0" dirty="0"/>
                        <a:t>Mainly concentrates on classification and sorting. </a:t>
                      </a:r>
                      <a:br>
                        <a:rPr lang="en-IN" sz="1400" b="0" dirty="0"/>
                      </a:br>
                      <a:r>
                        <a:rPr lang="en-IN" sz="1400" b="0" dirty="0"/>
                        <a:t>• Does </a:t>
                      </a:r>
                      <a:r>
                        <a:rPr lang="en-IN" sz="1400" dirty="0"/>
                        <a:t>not provide intelligent recovery-path selection. </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latin typeface="Times New Roman" panose="02020603050405020304" pitchFamily="18" charset="0"/>
                <a:cs typeface="Times New Roman" panose="02020603050405020304" pitchFamily="18" charset="0"/>
              </a:rPr>
              <a:t>5</a:t>
            </a:fld>
            <a:endParaRPr lang="en-IN">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a:extLst>
              <a:ext uri="{FF2B5EF4-FFF2-40B4-BE49-F238E27FC236}">
                <a16:creationId xmlns:a16="http://schemas.microsoft.com/office/drawing/2014/main" id="{769A214E-52AB-DF00-F510-5CAF12D847A9}"/>
              </a:ext>
            </a:extLst>
          </p:cNvPr>
          <p:cNvSpPr txBox="1"/>
          <p:nvPr/>
        </p:nvSpPr>
        <p:spPr>
          <a:xfrm>
            <a:off x="1199535" y="1852813"/>
            <a:ext cx="9792929" cy="4154984"/>
          </a:xfrm>
          <a:prstGeom prst="rect">
            <a:avLst/>
          </a:prstGeom>
          <a:noFill/>
        </p:spPr>
        <p:txBody>
          <a:bodyPr wrap="square">
            <a:sp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Existing e-waste systems mainly focus on individual tasks such as device classification, sorting, or recycling.</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Limited intelligent automation across the complete e-waste recovery lifecycle.</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High dependency on manual decisions for selecting repair, reuse, refurbishment, or recycling pathways.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Lack of intelligent coordination between users, repair centres, </a:t>
            </a:r>
            <a:r>
              <a:rPr lang="en-IN" sz="2400" dirty="0" err="1">
                <a:latin typeface="Times New Roman" panose="02020603050405020304" pitchFamily="18" charset="0"/>
                <a:cs typeface="Times New Roman" panose="02020603050405020304" pitchFamily="18" charset="0"/>
              </a:rPr>
              <a:t>refurbishers</a:t>
            </a:r>
            <a:r>
              <a:rPr lang="en-IN" sz="2400" dirty="0">
                <a:latin typeface="Times New Roman" panose="02020603050405020304" pitchFamily="18" charset="0"/>
                <a:cs typeface="Times New Roman" panose="02020603050405020304" pitchFamily="18" charset="0"/>
              </a:rPr>
              <a:t>, reuse partners, and recyclers.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Need for an integrated Agentic AI and SOA-based system that can assess devices, make recovery decisions, and orchestrate the complete circularity process.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AF00C3EA-BED2-F649-5624-07640B1D8E4A}"/>
              </a:ext>
            </a:extLst>
          </p:cNvPr>
          <p:cNvSpPr txBox="1"/>
          <p:nvPr/>
        </p:nvSpPr>
        <p:spPr>
          <a:xfrm>
            <a:off x="879986" y="1397575"/>
            <a:ext cx="10432026" cy="5262979"/>
          </a:xfrm>
          <a:prstGeom prst="rect">
            <a:avLst/>
          </a:prstGeom>
          <a:noFill/>
        </p:spPr>
        <p:txBody>
          <a:bodyPr wrap="square">
            <a:sp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Autonomous AI Recovery Workflow:</a:t>
            </a:r>
            <a:r>
              <a:rPr lang="en-IN" sz="2400" dirty="0">
                <a:latin typeface="Times New Roman" panose="02020603050405020304" pitchFamily="18" charset="0"/>
                <a:cs typeface="Times New Roman" panose="02020603050405020304" pitchFamily="18" charset="0"/>
              </a:rPr>
              <a:t> Multiple AI agents collaboratively assess electronic devices and determine the most suitable recovery pathway.</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AI-Based Circularity Decision:</a:t>
            </a:r>
            <a:r>
              <a:rPr lang="en-IN" sz="2400" dirty="0">
                <a:latin typeface="Times New Roman" panose="02020603050405020304" pitchFamily="18" charset="0"/>
                <a:cs typeface="Times New Roman" panose="02020603050405020304" pitchFamily="18" charset="0"/>
              </a:rPr>
              <a:t> The system evaluates device condition and identifies whether it should be repaired, reused, refurbished, used for parts, or recycled.</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Intelligent Partner Matching:</a:t>
            </a:r>
            <a:r>
              <a:rPr lang="en-IN" sz="2400" dirty="0">
                <a:latin typeface="Times New Roman" panose="02020603050405020304" pitchFamily="18" charset="0"/>
                <a:cs typeface="Times New Roman" panose="02020603050405020304" pitchFamily="18" charset="0"/>
              </a:rPr>
              <a:t> AI automatically matches devices with suitable repair centres, </a:t>
            </a:r>
            <a:r>
              <a:rPr lang="en-IN" sz="2400" dirty="0" err="1">
                <a:latin typeface="Times New Roman" panose="02020603050405020304" pitchFamily="18" charset="0"/>
                <a:cs typeface="Times New Roman" panose="02020603050405020304" pitchFamily="18" charset="0"/>
              </a:rPr>
              <a:t>refurbishers</a:t>
            </a:r>
            <a:r>
              <a:rPr lang="en-IN" sz="2400" dirty="0">
                <a:latin typeface="Times New Roman" panose="02020603050405020304" pitchFamily="18" charset="0"/>
                <a:cs typeface="Times New Roman" panose="02020603050405020304" pitchFamily="18" charset="0"/>
              </a:rPr>
              <a:t>, reuse organizations, or authorized recyclers based on device condition and requirements.</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Proactive Recovery Orchestration:</a:t>
            </a:r>
            <a:r>
              <a:rPr lang="en-IN" sz="2400" dirty="0">
                <a:latin typeface="Times New Roman" panose="02020603050405020304" pitchFamily="18" charset="0"/>
                <a:cs typeface="Times New Roman" panose="02020603050405020304" pitchFamily="18" charset="0"/>
              </a:rPr>
              <a:t> The system automatically coordinates pickup, processing, status tracking, and notifications instead of relying entirely on manual intervention.</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Integrated End-to-End Circularity:</a:t>
            </a:r>
            <a:r>
              <a:rPr lang="en-IN" sz="2400" dirty="0">
                <a:latin typeface="Times New Roman" panose="02020603050405020304" pitchFamily="18" charset="0"/>
                <a:cs typeface="Times New Roman" panose="02020603050405020304" pitchFamily="18" charset="0"/>
              </a:rPr>
              <a:t> Combines device assessment, recovery decision-making, partner matching, logistics, monitoring, and impact tracking in a single SOA-based microservices system.</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71D289D8-D5CB-E08C-3C80-2B5D2426418A}"/>
              </a:ext>
            </a:extLst>
          </p:cNvPr>
          <p:cNvSpPr txBox="1"/>
          <p:nvPr/>
        </p:nvSpPr>
        <p:spPr>
          <a:xfrm>
            <a:off x="737419" y="1502688"/>
            <a:ext cx="11316929" cy="535531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Feasibility</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Uses existing AI tools, APIs, and open-source technologies for device assessment and intelligent decision-making.</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SOA and microservices enable independent, modular, and scalable development of the recovery workflow.</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Can be developed incrementally in modules/phases, starting with basic device registration and progressing to AI-driven recovery decisions.</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Suitable for real-world use by individuals, organizations, e-waste collection centres, </a:t>
            </a:r>
            <a:r>
              <a:rPr lang="en-IN" dirty="0" err="1">
                <a:latin typeface="Times New Roman" panose="02020603050405020304" pitchFamily="18" charset="0"/>
                <a:cs typeface="Times New Roman" panose="02020603050405020304" pitchFamily="18" charset="0"/>
              </a:rPr>
              <a:t>refurbishers</a:t>
            </a:r>
            <a:r>
              <a:rPr lang="en-IN" dirty="0">
                <a:latin typeface="Times New Roman" panose="02020603050405020304" pitchFamily="18" charset="0"/>
                <a:cs typeface="Times New Roman" panose="02020603050405020304" pitchFamily="18" charset="0"/>
              </a:rPr>
              <a:t>, and recyclers.</a:t>
            </a:r>
          </a:p>
          <a:p>
            <a:pPr marL="342900" indent="-34290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Project Plan</a:t>
            </a:r>
          </a:p>
          <a:p>
            <a:r>
              <a:rPr lang="en-IN" b="1" dirty="0">
                <a:latin typeface="Times New Roman" panose="02020603050405020304" pitchFamily="18" charset="0"/>
                <a:cs typeface="Times New Roman" panose="02020603050405020304" pitchFamily="18" charset="0"/>
              </a:rPr>
              <a:t>Phase 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Requirements, e-waste workflow research &amp; SOA architecture design</a:t>
            </a:r>
          </a:p>
          <a:p>
            <a:r>
              <a:rPr lang="en-IN" b="1" dirty="0">
                <a:latin typeface="Times New Roman" panose="02020603050405020304" pitchFamily="18" charset="0"/>
                <a:cs typeface="Times New Roman" panose="02020603050405020304" pitchFamily="18" charset="0"/>
              </a:rPr>
              <a:t>Phase 2</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Device registration, user management &amp; authentication services</a:t>
            </a:r>
          </a:p>
          <a:p>
            <a:r>
              <a:rPr lang="en-IN" b="1" dirty="0">
                <a:latin typeface="Times New Roman" panose="02020603050405020304" pitchFamily="18" charset="0"/>
                <a:cs typeface="Times New Roman" panose="02020603050405020304" pitchFamily="18" charset="0"/>
              </a:rPr>
              <a:t>Phase 3</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AI agents for device assessment, recovery decision &amp; partner matching</a:t>
            </a:r>
          </a:p>
          <a:p>
            <a:r>
              <a:rPr lang="en-IN" b="1" dirty="0">
                <a:latin typeface="Times New Roman" panose="02020603050405020304" pitchFamily="18" charset="0"/>
                <a:cs typeface="Times New Roman" panose="02020603050405020304" pitchFamily="18" charset="0"/>
              </a:rPr>
              <a:t>Phase 4</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Logistics, recovery tracking, monitoring &amp; notification services</a:t>
            </a:r>
          </a:p>
          <a:p>
            <a:r>
              <a:rPr lang="en-IN" b="1" dirty="0">
                <a:latin typeface="Times New Roman" panose="02020603050405020304" pitchFamily="18" charset="0"/>
                <a:cs typeface="Times New Roman" panose="02020603050405020304" pitchFamily="18" charset="0"/>
              </a:rPr>
              <a:t>Phase 5</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SOA integration, Kafka event workflow, testing &amp; deployment</a:t>
            </a:r>
          </a:p>
          <a:p>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035FC21C-F731-D54C-8789-095ADA23E57A}"/>
              </a:ext>
            </a:extLst>
          </p:cNvPr>
          <p:cNvGraphicFramePr>
            <a:graphicFrameLocks noGrp="1"/>
          </p:cNvGraphicFramePr>
          <p:nvPr>
            <p:extLst>
              <p:ext uri="{D42A27DB-BD31-4B8C-83A1-F6EECF244321}">
                <p14:modId xmlns:p14="http://schemas.microsoft.com/office/powerpoint/2010/main" val="3383851421"/>
              </p:ext>
            </p:extLst>
          </p:nvPr>
        </p:nvGraphicFramePr>
        <p:xfrm>
          <a:off x="1381398" y="4310027"/>
          <a:ext cx="10515600" cy="2194560"/>
        </p:xfrm>
        <a:graphic>
          <a:graphicData uri="http://schemas.openxmlformats.org/drawingml/2006/table">
            <a:tbl>
              <a:tblPr/>
              <a:tblGrid>
                <a:gridCol w="5257800">
                  <a:extLst>
                    <a:ext uri="{9D8B030D-6E8A-4147-A177-3AD203B41FA5}">
                      <a16:colId xmlns:a16="http://schemas.microsoft.com/office/drawing/2014/main" val="3339119843"/>
                    </a:ext>
                  </a:extLst>
                </a:gridCol>
                <a:gridCol w="5257800">
                  <a:extLst>
                    <a:ext uri="{9D8B030D-6E8A-4147-A177-3AD203B41FA5}">
                      <a16:colId xmlns:a16="http://schemas.microsoft.com/office/drawing/2014/main" val="1840882008"/>
                    </a:ext>
                  </a:extLst>
                </a:gridCol>
              </a:tblGrid>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654002494"/>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419699395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145750526"/>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054254863"/>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083482004"/>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040803410"/>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1006</Words>
  <Application>Microsoft Office PowerPoint</Application>
  <PresentationFormat>Widescreen</PresentationFormat>
  <Paragraphs>102</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Sudarsan Krishna</dc:creator>
  <cp:lastModifiedBy>A Sudarsan Krishna</cp:lastModifiedBy>
  <cp:revision>13</cp:revision>
  <dcterms:created xsi:type="dcterms:W3CDTF">2026-08-13T08:38:42Z</dcterms:created>
  <dcterms:modified xsi:type="dcterms:W3CDTF">2026-08-28T04:59:56Z</dcterms:modified>
</cp:coreProperties>
</file>